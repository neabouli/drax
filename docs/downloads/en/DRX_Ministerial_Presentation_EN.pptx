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775f4c8c604cd7" /><Relationship Type="http://schemas.openxmlformats.org/officeDocument/2006/relationships/extended-properties" Target="/docProps/app.xml" Id="R4da8cfb3cd514413" /><Relationship Type="http://schemas.openxmlformats.org/officeDocument/2006/relationships/officeDocument" Target="/ppt/presentation.xml" Id="R6af8413e881d4c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e6345771bf4957"/>
  </p:sldMasterIdLst>
  <p:notesMasterIdLst>
    <p:notesMasterId xmlns:r="http://schemas.openxmlformats.org/officeDocument/2006/relationships" r:id="R85e8d03f2fb94ea4"/>
  </p:notesMasterIdLst>
  <p:sldIdLst>
    <p:sldId xmlns:r="http://schemas.openxmlformats.org/officeDocument/2006/relationships" id="256" r:id="R88288c896cc945ea"/>
    <p:sldId xmlns:r="http://schemas.openxmlformats.org/officeDocument/2006/relationships" id="257" r:id="Rd96c103b4c6a40f8"/>
    <p:sldId xmlns:r="http://schemas.openxmlformats.org/officeDocument/2006/relationships" id="258" r:id="R7fd48c29d68c42d8"/>
    <p:sldId xmlns:r="http://schemas.openxmlformats.org/officeDocument/2006/relationships" id="259" r:id="R0e203660c8cd4559"/>
    <p:sldId xmlns:r="http://schemas.openxmlformats.org/officeDocument/2006/relationships" id="260" r:id="Re0e50882dc9d4c9c"/>
    <p:sldId xmlns:r="http://schemas.openxmlformats.org/officeDocument/2006/relationships" id="261" r:id="Rc52c457205f74df6"/>
    <p:sldId xmlns:r="http://schemas.openxmlformats.org/officeDocument/2006/relationships" id="262" r:id="Rdf414bd0b9ba4d09"/>
    <p:sldId xmlns:r="http://schemas.openxmlformats.org/officeDocument/2006/relationships" id="263" r:id="Rfd316e51cbc249fa"/>
    <p:sldId xmlns:r="http://schemas.openxmlformats.org/officeDocument/2006/relationships" id="264" r:id="R2cfee11088df4ce6"/>
    <p:sldId xmlns:r="http://schemas.openxmlformats.org/officeDocument/2006/relationships" id="265" r:id="R705192da60e84f14"/>
    <p:sldId xmlns:r="http://schemas.openxmlformats.org/officeDocument/2006/relationships" id="266" r:id="Rd11c71fbfe9340f1"/>
    <p:sldId xmlns:r="http://schemas.openxmlformats.org/officeDocument/2006/relationships" id="267" r:id="R854d439a1ce2448c"/>
    <p:sldId xmlns:r="http://schemas.openxmlformats.org/officeDocument/2006/relationships" id="268" r:id="R7fa9961362da494b"/>
    <p:sldId xmlns:r="http://schemas.openxmlformats.org/officeDocument/2006/relationships" id="269" r:id="R273384c57a8a4f50"/>
    <p:sldId xmlns:r="http://schemas.openxmlformats.org/officeDocument/2006/relationships" id="270" r:id="R1daba95645e14f3c"/>
    <p:sldId xmlns:r="http://schemas.openxmlformats.org/officeDocument/2006/relationships" id="271" r:id="Rbd543eb6b9c949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972f551b6a4d12" /><Relationship Type="http://schemas.openxmlformats.org/officeDocument/2006/relationships/slideMaster" Target="/ppt/slideMasters/slideMaster1.xml" Id="Re3e6345771bf4957" /><Relationship Type="http://schemas.openxmlformats.org/officeDocument/2006/relationships/notesMaster" Target="/ppt/notesMasters/notesMaster1.xml" Id="R85e8d03f2fb94ea4" /><Relationship Type="http://schemas.openxmlformats.org/officeDocument/2006/relationships/presProps" Target="/ppt/presProps.xml" Id="R66f200f9d1b34bbd" /><Relationship Type="http://schemas.openxmlformats.org/officeDocument/2006/relationships/tableStyles" Target="/ppt/tableStyles.xml" Id="R5f798458a5ac495a" /><Relationship Type="http://schemas.openxmlformats.org/officeDocument/2006/relationships/slide" Target="/ppt/slides/slide1.xml" Id="R88288c896cc945ea" /><Relationship Type="http://schemas.openxmlformats.org/officeDocument/2006/relationships/slide" Target="/ppt/slides/slide2.xml" Id="Rd96c103b4c6a40f8" /><Relationship Type="http://schemas.openxmlformats.org/officeDocument/2006/relationships/slide" Target="/ppt/slides/slide3.xml" Id="R7fd48c29d68c42d8" /><Relationship Type="http://schemas.openxmlformats.org/officeDocument/2006/relationships/slide" Target="/ppt/slides/slide4.xml" Id="R0e203660c8cd4559" /><Relationship Type="http://schemas.openxmlformats.org/officeDocument/2006/relationships/slide" Target="/ppt/slides/slide5.xml" Id="Re0e50882dc9d4c9c" /><Relationship Type="http://schemas.openxmlformats.org/officeDocument/2006/relationships/slide" Target="/ppt/slides/slide6.xml" Id="Rc52c457205f74df6" /><Relationship Type="http://schemas.openxmlformats.org/officeDocument/2006/relationships/slide" Target="/ppt/slides/slide7.xml" Id="Rdf414bd0b9ba4d09" /><Relationship Type="http://schemas.openxmlformats.org/officeDocument/2006/relationships/slide" Target="/ppt/slides/slide8.xml" Id="Rfd316e51cbc249fa" /><Relationship Type="http://schemas.openxmlformats.org/officeDocument/2006/relationships/slide" Target="/ppt/slides/slide9.xml" Id="R2cfee11088df4ce6" /><Relationship Type="http://schemas.openxmlformats.org/officeDocument/2006/relationships/slide" Target="/ppt/slides/slide10.xml" Id="R705192da60e84f14" /><Relationship Type="http://schemas.openxmlformats.org/officeDocument/2006/relationships/slide" Target="/ppt/slides/slide11.xml" Id="Rd11c71fbfe9340f1" /><Relationship Type="http://schemas.openxmlformats.org/officeDocument/2006/relationships/slide" Target="/ppt/slides/slide12.xml" Id="R854d439a1ce2448c" /><Relationship Type="http://schemas.openxmlformats.org/officeDocument/2006/relationships/slide" Target="/ppt/slides/slide13.xml" Id="R7fa9961362da494b" /><Relationship Type="http://schemas.openxmlformats.org/officeDocument/2006/relationships/slide" Target="/ppt/slides/slide14.xml" Id="R273384c57a8a4f50" /><Relationship Type="http://schemas.openxmlformats.org/officeDocument/2006/relationships/slide" Target="/ppt/slides/slide15.xml" Id="R1daba95645e14f3c" /><Relationship Type="http://schemas.openxmlformats.org/officeDocument/2006/relationships/slide" Target="/ppt/slides/slide16.xml" Id="Rbd543eb6b9c949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2165e6e9124a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be434ec6584df7" /><Relationship Type="http://schemas.openxmlformats.org/officeDocument/2006/relationships/notesMaster" Target="/ppt/notesMasters/notesMaster1.xml" Id="R1d4f4edbc7664a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1603cf21c4474b" /><Relationship Type="http://schemas.openxmlformats.org/officeDocument/2006/relationships/notesMaster" Target="/ppt/notesMasters/notesMaster1.xml" Id="R4324ad2641f343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9052d81a374624" /><Relationship Type="http://schemas.openxmlformats.org/officeDocument/2006/relationships/notesMaster" Target="/ppt/notesMasters/notesMaster1.xml" Id="Rb7a55bce0c3141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2692bee98444c4" /><Relationship Type="http://schemas.openxmlformats.org/officeDocument/2006/relationships/notesMaster" Target="/ppt/notesMasters/notesMaster1.xml" Id="R937c17d6978246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5fb486aeb24328" /><Relationship Type="http://schemas.openxmlformats.org/officeDocument/2006/relationships/notesMaster" Target="/ppt/notesMasters/notesMaster1.xml" Id="R5ce8a58fa6124b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f75c96f08c4729" /><Relationship Type="http://schemas.openxmlformats.org/officeDocument/2006/relationships/notesMaster" Target="/ppt/notesMasters/notesMaster1.xml" Id="R7d737979b6d549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2657fd5bc546e3" /><Relationship Type="http://schemas.openxmlformats.org/officeDocument/2006/relationships/notesMaster" Target="/ppt/notesMasters/notesMaster1.xml" Id="Ra0cfd19100f54d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be8f1c2cc5438e" /><Relationship Type="http://schemas.openxmlformats.org/officeDocument/2006/relationships/notesMaster" Target="/ppt/notesMasters/notesMaster1.xml" Id="Rc51fb328632342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fda3a3fd6c46e2" /><Relationship Type="http://schemas.openxmlformats.org/officeDocument/2006/relationships/notesMaster" Target="/ppt/notesMasters/notesMaster1.xml" Id="R236403a3ba3141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f9c6ae78624d4c" /><Relationship Type="http://schemas.openxmlformats.org/officeDocument/2006/relationships/notesMaster" Target="/ppt/notesMasters/notesMaster1.xml" Id="R8fe6da48df6b4d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f313445d0f459b" /><Relationship Type="http://schemas.openxmlformats.org/officeDocument/2006/relationships/notesMaster" Target="/ppt/notesMasters/notesMaster1.xml" Id="R3027c76bfe2c46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444eadbcc047eb" /><Relationship Type="http://schemas.openxmlformats.org/officeDocument/2006/relationships/notesMaster" Target="/ppt/notesMasters/notesMaster1.xml" Id="R7728189c822c458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dcf82d766f4069" /><Relationship Type="http://schemas.openxmlformats.org/officeDocument/2006/relationships/notesMaster" Target="/ppt/notesMasters/notesMaster1.xml" Id="R91e69a5d0f3b44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b10e142585e47fc" /><Relationship Type="http://schemas.openxmlformats.org/officeDocument/2006/relationships/notesMaster" Target="/ppt/notesMasters/notesMaster1.xml" Id="Rec5f4c1120a84a0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a6267fe3a704683" /><Relationship Type="http://schemas.openxmlformats.org/officeDocument/2006/relationships/notesMaster" Target="/ppt/notesMasters/notesMaster1.xml" Id="R4ac36108c177451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589b097dc44405e" /><Relationship Type="http://schemas.openxmlformats.org/officeDocument/2006/relationships/notesMaster" Target="/ppt/notesMasters/notesMaster1.xml" Id="Rdb64297ca9364a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chapters 0, 11 and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chapters 2, 4 and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2.2 and Annex 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https://docs.kaspa.org/toccata</a:t>
            </a:r>
          </a:p>
          <a:p xmlns:a="http://schemas.openxmlformats.org/drawingml/2006/main">
            <a:r>
              <a:t>- https://docs.kaspa.org/toccata/agent-brief</a:t>
            </a:r>
          </a:p>
          <a:p xmlns:a="http://schemas.openxmlformats.org/drawingml/2006/main">
            <a:r>
              <a:t>- https://github.com/kaspanet/silverscript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3.</a:t>
            </a:r>
          </a:p>
          <a:p xmlns:a="http://schemas.openxmlformats.org/drawingml/2006/main">
            <a:r>
              <a:t>- https://docs.kaspa.org/toccata/agent-brief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5.</a:t>
            </a:r>
          </a:p>
          <a:p xmlns:a="http://schemas.openxmlformats.org/drawingml/2006/main">
            <a:r>
              <a:t>- https://www.ecb.europa.eu/euro/digital_euro/pilot/html/ecb.faq-digital-euro-pilot.de.html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7.</a:t>
            </a:r>
          </a:p>
          <a:p xmlns:a="http://schemas.openxmlformats.org/drawingml/2006/main">
            <a:r>
              <a:t>- Methodological reference: time-expiring emergency powers from the 1kUSD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6.</a:t>
            </a:r>
          </a:p>
          <a:p xmlns:a="http://schemas.openxmlformats.org/drawingml/2006/main">
            <a:r>
              <a:t>- https://www.elibrary.imf.org/view/journals/007/1999/009/article-A004-en.xml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https://unctad.org/system/files/official-document/rmt2025overview_en.pdf</a:t>
            </a:r>
          </a:p>
          <a:p xmlns:a="http://schemas.openxmlformats.org/drawingml/2006/main">
            <a:r>
              <a:t>- https://www.bankofgreece.gr/en/news-and-media/press-office/news-list/news?announcement=27a32287-1c58-44e7-b900-2c92c53ffe9c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https://eur-lex.europa.eu/eli/treaty/tfeu_2012/art_128/oj/deu</a:t>
            </a:r>
          </a:p>
          <a:p xmlns:a="http://schemas.openxmlformats.org/drawingml/2006/main">
            <a:r>
              <a:t>- https://eur-lex.europa.eu/eli/reg/1998/974/oj</a:t>
            </a:r>
          </a:p>
          <a:p xmlns:a="http://schemas.openxmlformats.org/drawingml/2006/main">
            <a:r>
              <a:t>- https://eur-lex.europa.eu/eli/reg/2023/1114/oj</a:t>
            </a:r>
          </a:p>
          <a:p xmlns:a="http://schemas.openxmlformats.org/drawingml/2006/main">
            <a:r>
              <a:t>- https://www.bankofgreece.gr/en/main-tasks/supervision/regulation-eu-2023_1114-on-markets-in-crypto-assets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chapters 1.3, 6, 10 and 17.</a:t>
            </a:r>
          </a:p>
          <a:p xmlns:a="http://schemas.openxmlformats.org/drawingml/2006/main">
            <a:r>
              <a:t>- https://www.bis.org/publications/aer-2025/next-generation-monetary-financial-system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11.3.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chapters 11.1 and 11.4.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ΔΡΑΧ whitepaper, chapter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53db86a57341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49092750b548a6" /><Relationship Type="http://schemas.openxmlformats.org/officeDocument/2006/relationships/slideLayout" Target="/ppt/slideLayouts/slideLayout1.xml" Id="R7fea7d2c272f48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ea7d2c272f48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482d7b4194732" /><Relationship Type="http://schemas.openxmlformats.org/officeDocument/2006/relationships/image" Target="/ppt/media/image.jpeg" Id="R81c8b641792641ba" /><Relationship Type="http://schemas.openxmlformats.org/officeDocument/2006/relationships/notesSlide" Target="/ppt/notesSlides/notesSlide1.xml" Id="R891b01dfbd2d4f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2447cd13c48c5" /><Relationship Type="http://schemas.openxmlformats.org/officeDocument/2006/relationships/image" Target="/ppt/media/image2.jpeg" Id="R307a5c94b1e14621" /><Relationship Type="http://schemas.openxmlformats.org/officeDocument/2006/relationships/notesSlide" Target="/ppt/notesSlides/notesSlide2.xml" Id="R4742ba82076743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c13fa43d94b61" /><Relationship Type="http://schemas.openxmlformats.org/officeDocument/2006/relationships/image" Target="/ppt/media/image3.jpeg" Id="Raae6dce9d46a489d" /><Relationship Type="http://schemas.openxmlformats.org/officeDocument/2006/relationships/notesSlide" Target="/ppt/notesSlides/notesSlide3.xml" Id="R58269e83efbe4b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ea361b319461b" /><Relationship Type="http://schemas.openxmlformats.org/officeDocument/2006/relationships/image" Target="/ppt/media/image4.jpeg" Id="R7c70c45e056a4804" /><Relationship Type="http://schemas.openxmlformats.org/officeDocument/2006/relationships/notesSlide" Target="/ppt/notesSlides/notesSlide4.xml" Id="R50d46dbb6bfd4d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015bd34a34522" /><Relationship Type="http://schemas.openxmlformats.org/officeDocument/2006/relationships/image" Target="/ppt/media/image5.jpeg" Id="R985103af3ca24651" /><Relationship Type="http://schemas.openxmlformats.org/officeDocument/2006/relationships/notesSlide" Target="/ppt/notesSlides/notesSlide5.xml" Id="R8898f78c750a47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817885d8349bc" /><Relationship Type="http://schemas.openxmlformats.org/officeDocument/2006/relationships/image" Target="/ppt/media/image6.jpeg" Id="R449f8a2f1aeb4e66" /><Relationship Type="http://schemas.openxmlformats.org/officeDocument/2006/relationships/notesSlide" Target="/ppt/notesSlides/notesSlide6.xml" Id="Rfc3d474a3c0e4e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5aa311b0c47ad" /><Relationship Type="http://schemas.openxmlformats.org/officeDocument/2006/relationships/image" Target="/ppt/media/image7.jpeg" Id="R0e93c40001ef4b2b" /><Relationship Type="http://schemas.openxmlformats.org/officeDocument/2006/relationships/notesSlide" Target="/ppt/notesSlides/notesSlide7.xml" Id="R84bb8fd07b304c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8e5a9c6984c2f" /><Relationship Type="http://schemas.openxmlformats.org/officeDocument/2006/relationships/image" Target="/ppt/media/image8.jpeg" Id="Rf63d238ff3d84719" /><Relationship Type="http://schemas.openxmlformats.org/officeDocument/2006/relationships/notesSlide" Target="/ppt/notesSlides/notesSlide8.xml" Id="R91c7fbd8eb4343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3d569814847b6" /><Relationship Type="http://schemas.openxmlformats.org/officeDocument/2006/relationships/image" Target="/ppt/media/image9.jpeg" Id="Rd0699d62e3ee459f" /><Relationship Type="http://schemas.openxmlformats.org/officeDocument/2006/relationships/notesSlide" Target="/ppt/notesSlides/notesSlide9.xml" Id="Rbb60676d431649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dcc0384f8431d" /><Relationship Type="http://schemas.openxmlformats.org/officeDocument/2006/relationships/image" Target="/ppt/media/image10.jpeg" Id="R368473390a874dab" /><Relationship Type="http://schemas.openxmlformats.org/officeDocument/2006/relationships/notesSlide" Target="/ppt/notesSlides/notesSlide10.xml" Id="R44616154abd843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fd13463a14467" /><Relationship Type="http://schemas.openxmlformats.org/officeDocument/2006/relationships/image" Target="/ppt/media/image11.jpeg" Id="R39262e6798834fb0" /><Relationship Type="http://schemas.openxmlformats.org/officeDocument/2006/relationships/notesSlide" Target="/ppt/notesSlides/notesSlide11.xml" Id="Rd10277f947e944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39f6043754322" /><Relationship Type="http://schemas.openxmlformats.org/officeDocument/2006/relationships/image" Target="/ppt/media/image12.jpeg" Id="R708e4fddc43f4143" /><Relationship Type="http://schemas.openxmlformats.org/officeDocument/2006/relationships/notesSlide" Target="/ppt/notesSlides/notesSlide12.xml" Id="Rcc0dc29501e34c4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88542e0c347f3" /><Relationship Type="http://schemas.openxmlformats.org/officeDocument/2006/relationships/image" Target="/ppt/media/image13.jpeg" Id="R4651da9290f94064" /><Relationship Type="http://schemas.openxmlformats.org/officeDocument/2006/relationships/notesSlide" Target="/ppt/notesSlides/notesSlide13.xml" Id="R7fa9b7d05720412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0bf4b9b564da2" /><Relationship Type="http://schemas.openxmlformats.org/officeDocument/2006/relationships/image" Target="/ppt/media/image14.jpeg" Id="R543e02bbff2e4906" /><Relationship Type="http://schemas.openxmlformats.org/officeDocument/2006/relationships/notesSlide" Target="/ppt/notesSlides/notesSlide14.xml" Id="R7034eba98fbf468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44dcfe39f4e54" /><Relationship Type="http://schemas.openxmlformats.org/officeDocument/2006/relationships/image" Target="/ppt/media/image15.jpeg" Id="R8e38914ca7c8453a" /><Relationship Type="http://schemas.openxmlformats.org/officeDocument/2006/relationships/notesSlide" Target="/ppt/notesSlides/notesSlide15.xml" Id="Rbb777d62968e44a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9f1e4d9024aa6" /><Relationship Type="http://schemas.openxmlformats.org/officeDocument/2006/relationships/image" Target="/ppt/media/image16.jpeg" Id="R3216f8cbcfda450e" /><Relationship Type="http://schemas.openxmlformats.org/officeDocument/2006/relationships/notesSlide" Target="/ppt/notesSlides/notesSlide16.xml" Id="R54931c33b2084c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EC93B-491D-40F2-A428-D3D1329F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9F9CC-F8F3-4AC1-81D5-DFDAB4BD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54CC7-8ABC-4273-8A94-3BA0A413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49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0C873"/>
                </a:solidFill>
                <a:latin typeface="Aptos"/>
                <a:ea typeface="Aptos"/>
                <a:cs typeface="Aptos"/>
              </a:rPr>
              <a:t>PUBLIC RESEARCH EDITION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0EACF-F0BD-4FAD-A3BB-0756A365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35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DRX PROGRAMME — INDEPENDENT DRACHMA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A55E41-6CF4-41B0-8905-61594A78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0C873"/>
                </a:solidFill>
                <a:latin typeface="Aptos"/>
                <a:ea typeface="Aptos"/>
                <a:cs typeface="Aptos"/>
              </a:rPr>
              <a:t>Hellenic Monetary Technology Initiative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972F8-2A8B-47FD-87B3-A0069562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647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D7E0E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7E0E8"/>
                </a:solidFill>
                <a:latin typeface="Aptos"/>
                <a:ea typeface="Aptos"/>
                <a:cs typeface="Aptos"/>
              </a:rPr>
              <a:t>Feasibility study for a hard digital and physical unit of account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1EE3B-9B1A-4428-A03E-19A8769F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dig Δραχμή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0A09B-0B53-4621-84B7-EA81E537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Vendetta Labs · Gio (Kaspartizan)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23DC5-CFDE-40D0-A552-4EB9D008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Public research version · 1 September 2026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8b641792641b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500" y="1657350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CD190-DE53-4B9B-8F7D-DC7A66D6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48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0C873"/>
                </a:solidFill>
                <a:latin typeface="Aptos"/>
                <a:ea typeface="Aptos"/>
                <a:cs typeface="Aptos"/>
              </a:rPr>
              <a:t>INDEPENDENT PUBLIC FEASIBILITY STUDY</a:t>
            </a:r>
          </a:p>
        </p:txBody>
      </p:sp>
    </p:spTree>
    <p:extLst>
      <p:ext uri="{BB962C8B-B14F-4D97-AF65-F5344CB8AC3E}">
        <p14:creationId xmlns:p14="http://schemas.microsoft.com/office/powerpoint/2010/main" val="14039199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E075D0-2A44-4257-AE7B-44134BFF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2BB3BF-014B-4506-BCA6-439BFC3B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283F1-1EFE-4BB8-8E51-4ABBEE3B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Research is requested - not a currency introduction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21989-070F-45E3-88A6-972CBAAE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a5c94b1e1462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10B2E-3738-46D5-82D0-A36CCDEC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F6739-618C-40E3-B37C-C122A45B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172DB-0AE5-47B6-8E5E-2FA18AE6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Phase 0 · 12-18 months · maximum EUR 1.6 million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A05242-C31C-4F26-90DE-DEB6A8D5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E99416-4DDF-450D-8E96-3F7577B4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6985E-669F-47BD-AB81-5FA5F5E0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Legal opinions and macroeconomic simulation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FDC40C-FAAC-4E44-9DEA-3A6306F0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2F4711-9A58-469B-AC48-13704B69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A7102-20D4-4175-AB97-8287224B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valueless Kaspa Toccata testnet prototype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1C81FC-2177-44CF-89B3-94546ECB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30C6BC-2D34-4F0C-95E4-4740A677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10C92-D16D-4E6F-9904-AA03460A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CashLot and offline laboratory 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2676E-FF27-4CF1-B74F-D464CAEB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C6A4EC-3573-416E-B946-7C7074C7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B0775A-DB9E-45F5-9B0E-3C35B26E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automatic sunset absent a new resolution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5284F9-25F4-40E9-A2A0-D1904310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Not requested: mainnet value, banknotes with face value, acceptance for tax payments, legal tender or a Grexit decision.</a:t>
            </a:r>
          </a:p>
        </p:txBody>
      </p:sp>
    </p:spTree>
    <p:extLst>
      <p:ext uri="{BB962C8B-B14F-4D97-AF65-F5344CB8AC3E}">
        <p14:creationId xmlns:p14="http://schemas.microsoft.com/office/powerpoint/2010/main" val="20829051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F65EA9-C31D-4736-9D4C-1D66FB6C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657D2-F101-40B6-86EC-67A5B098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MONETARY CONSTITUTION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0CB154-C4E5-4039-9BFE-49273F0F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One unit - four carrier forms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E0CBD-244B-4147-877F-290F7DFF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e6dce9d46a489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288EA-0C4B-4E87-A074-96CF8C3B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A3FD7-FABE-41AA-94AE-4DD930CD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F57D00-8DDC-4971-B7EA-882E64FD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ΔΡΑΧ is neither a CBDC nor a stablecoin.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FC3E2-4696-425D-BBEA-C98EF9F1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62467-6878-4ACD-AEB0-42B279BA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60CC5-6EE6-4650-87F4-E6F32C7F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612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digital bearer value in self-custody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7388A-E6D1-4202-8911-6E0881AB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5F6BD6-0F86-48A3-9688-036D203F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F6E39-6E48-4BCD-A5A2-C7688205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888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pre-funded offline 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76C81E-9810-44AC-8A80-28C39BFE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796E13-8423-410B-83A4-B6A0C7D4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56B448-CAF3-4630-86B0-AFA29BDF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banknotes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5B2B7-B956-4CBD-ACA1-3B2398B9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C9D469-3BE8-4C53-96BC-AE69771E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31ABFF-AE67-4D71-84E6-470F2ACD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coins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32D64E-D5AE-4E89-A3D6-40205CE9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All forms share the same money supply. Physical money is created only against an equal digital lock.</a:t>
            </a:r>
          </a:p>
        </p:txBody>
      </p:sp>
    </p:spTree>
    <p:extLst>
      <p:ext uri="{BB962C8B-B14F-4D97-AF65-F5344CB8AC3E}">
        <p14:creationId xmlns:p14="http://schemas.microsoft.com/office/powerpoint/2010/main" val="1954788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C9CD43-E187-4CE8-95B1-19B76DA0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8D933-91C6-4B63-A825-D74E3AC3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23BEA-9424-42AF-8EDE-0F6E93CC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The constitution fits in one equation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2D286-F900-4C81-A182-24CA0862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0c45e056a480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AB167-8689-40FC-AD65-67B89201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E1DE0-5D51-4724-9D68-BE909364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2A830-E74A-41A2-B781-42B199A2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050" b="1">
                <a:solidFill>
                  <a:srgbClr val="D9A84E"/>
                </a:solidFill>
                <a:latin typeface="Georgia"/>
                <a:ea typeface="Georgia"/>
                <a:cs typeface="Georgia"/>
              </a:defRPr>
            </a:pPr>
            <a:r>
              <a:rPr sz="4050" b="1">
                <a:solidFill>
                  <a:srgbClr val="D9A84E"/>
                </a:solidFill>
                <a:latin typeface="Georgia"/>
                <a:ea typeface="Georgia"/>
                <a:cs typeface="Georgia"/>
              </a:rPr>
              <a:t>S = D + P + O + E ≤ Mmax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356BB-992E-4D6C-A27D-E3BDE0D7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A53D59-788B-45E2-8DA2-486A0F76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37DC0-6119-47A6-9316-2C0EB76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00C577-768F-4161-88E4-F41A88BC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digital, freely circulating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98D717-457F-479E-8EF7-F5E2BAA7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C593F8-5CB9-4BB2-9297-BC4678E5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1721A-8A07-459B-B238-0E0A2078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99EC7-1F7D-4D45-8706-E69E0BAA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locked for paper and metal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CF340-269F-45F5-9CEF-E4CEEBB7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7E71A-A17C-4AF9-9832-5D72B9C6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FE69D6-A0D0-476F-A357-FFE985E1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C4B556-0AE2-4F04-865D-32F36218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locked for offline payment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B58FFA-3623-4221-A0B7-117C8A18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EC50E3-E7C2-4BD4-B1E0-F891D44F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2C2C42-C628-40CA-B974-BAA5CCE4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A6835E-7923-494A-B5E0-02E4B54B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narrowly defined special states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80513D-2325-4ADA-BCF9-BB5695EB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Changes of form do not alter S. No emergency mint.</a:t>
            </a:r>
          </a:p>
        </p:txBody>
      </p:sp>
    </p:spTree>
    <p:extLst>
      <p:ext uri="{BB962C8B-B14F-4D97-AF65-F5344CB8AC3E}">
        <p14:creationId xmlns:p14="http://schemas.microsoft.com/office/powerpoint/2010/main" val="8081017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61D99B-8F49-4F18-A86F-1D1F954C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EDB65-7CF3-4B8C-9197-D72978B8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787F61-1D31-476D-A7EF-703E240D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Kaspa Toccata fits the bearer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43881-0B29-432D-8F0D-042D7016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5103af3ca2465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FF0D9-5995-4906-82C5-DC8168B6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43CDA9-652A-4477-B6EE-FC81957E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178FF-1E00-4D4B-9D6D-AE6CDCF7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143250" cy="36195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0E1505-C858-49F1-9514-B9DC3A5B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750" b="1">
                <a:solidFill>
                  <a:srgbClr val="F0C873"/>
                </a:solidFill>
                <a:latin typeface="Georgia"/>
                <a:ea typeface="Georgia"/>
                <a:cs typeface="Georgia"/>
              </a:defRPr>
            </a:pPr>
            <a:r>
              <a:rPr sz="3750" b="1">
                <a:solidFill>
                  <a:srgbClr val="F0C873"/>
                </a:solidFill>
                <a:latin typeface="Georgia"/>
                <a:ea typeface="Georgia"/>
                <a:cs typeface="Georgia"/>
              </a:rPr>
              <a:t>UTXO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7C655-9084-4688-AF5A-18411E2C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571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RULES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GLOBAL SETTLEMENT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1EA45-2E82-46DF-A4E5-03A772D1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672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KASPA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TOCCATA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555C4B-27F3-43E5-AC85-795EEF4D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3A9E1-281B-4C15-8D22-D28C25DE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4A6F9-7645-4F29-A353-92F9BD82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811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UTXO-native covenants instead of a central account registry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D7199B-302E-4EC4-9127-BD35EA7F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A64088-8D42-40A0-9528-DDEE8107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388F3-D7C4-4CC2-B75B-9095B4C3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every spend validates permissible successors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2844E-465E-4699-98C8-79B3DB19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D08F8-392E-4B9B-9986-1B485C5F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6F82A2-7A39-4375-AD6D-2E455E04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local split/merge/transfer invariants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721F09-9782-495C-AF55-B6B0FBDA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BC8FB2-DCCF-43E3-A54A-49DCB86B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7E337B-F5FE-4C72-A8B6-293007B8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parallel payments without a global balance store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A81E71-7990-4039-BA05-70C4E102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91200"/>
            <a:ext cx="7581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But: KAS fees, compiler, wallets and indexers remain external dependencies. A migration test is mandatory.</a:t>
            </a:r>
          </a:p>
        </p:txBody>
      </p:sp>
    </p:spTree>
    <p:extLst>
      <p:ext uri="{BB962C8B-B14F-4D97-AF65-F5344CB8AC3E}">
        <p14:creationId xmlns:p14="http://schemas.microsoft.com/office/powerpoint/2010/main" val="15520026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C408FE-5888-43FD-BE7F-B6AD3879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93811-FFE6-4B20-8FC5-CDF6D06C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D8496-9F2A-49F6-9FFA-6BB7922C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The technical core stays small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FB42EB-644D-4A94-A40D-360B9DD0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f8a2f1aeb4e6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14340-1F5A-4D27-A2EE-3F11BD88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50DA8-7C80-4DD7-97A8-24DC6644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4DC971-8EB6-492A-92E7-1B192A41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47E12-C62C-4107-B61E-1514FC05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7B251-65BE-4535-B86D-4EA2F931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Constitution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D942D-4C2D-408C-8E47-83A2F04F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M0, Mmax, emission schedule, sunset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06E470-6A97-4062-AB15-519DF3DB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91CBCF-3393-4B78-A71C-5BA563EA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F5C2E5-F629-4A27-BB26-D56F00E4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Bearer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E0C818-00C5-43A3-AC7E-CCE121BC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split, merge, transfer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850575-D81E-4538-9F29-E946CD20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D466DC-8B93-4AAF-AEDC-D66306CA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1B561-D031-49F5-88C7-CB6C75CF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CashLot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9E399-AE25-4A69-95BB-59932C41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physical issuance and destruction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CE7845-A224-4C53-A6BD-9980767F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DE8D2E-6CBA-44F4-80B6-54B12AF9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A6416A-73DA-4485-A76D-E9D0AD75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OfflineLock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231F7F-29FB-443E-81AD-B8FFE6BE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pre-funded offline value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0AAC10-6EBC-45CF-AB5E-51A64999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A90602-00E7-45F4-BFFF-643EBBAB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AA21E7-6AD3-4184-A0AC-DE1C4189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Recovery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6DCBE0-C792-49B7-947C-1B49FB06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narrowly bounded dispute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84C69B-EAF2-4456-AA0D-692DC452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No oracle, EUR peg, blacklist or global pause switch.</a:t>
            </a:r>
          </a:p>
        </p:txBody>
      </p:sp>
    </p:spTree>
    <p:extLst>
      <p:ext uri="{BB962C8B-B14F-4D97-AF65-F5344CB8AC3E}">
        <p14:creationId xmlns:p14="http://schemas.microsoft.com/office/powerpoint/2010/main" val="14659825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F9D078-A9A6-4A51-924A-B23DA701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B4F03-C312-4625-85C9-A22E7954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BE03D-6AE5-4346-9DDD-930EC26F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Banknote and token are the same liability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0684B-AE92-4D8D-A47B-F2C7DAE0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3c40001ef4b2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A4E42-1CA1-4F7B-94E3-AB119291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4217AA-54C5-413F-AFE6-30C7E5D2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0AA472-651B-4163-958B-890F5E40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B863E-B1F8-44D1-9AE1-E6E703C4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AF760D-B968-4F77-AD1E-4E7AF8C5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55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01  Bank or Cash Utility locks x ΔΡΑΧ in the CashLot.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6E7EB-3F9D-473E-A148-B2EA1EDE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033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578E5-A437-42E7-B15A-024D57F3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59545-3D8D-494B-A39F-0729ECA2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8D3CA-050E-464A-8079-4D6A9D20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6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82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02  Printing works/mint produces only against a valid warrant.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080C7-2FB6-4A21-B343-36FB0733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394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1F6708-60A8-4B06-9525-8518618B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BEC5D-2E7F-4745-8EAC-BA18A5DA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E569C6-2CF1-4C2F-98B9-AD0057B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637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2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03  Auditor attests the batch; issuance switches to "Issued".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11CF96-E47F-4661-9ABD-55135C49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B1081C-1B09-4EFF-A8E1-4CCA609D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43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9F40B8-86BC-4BE3-95FD-C5E3CFF9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43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17BCA2-5FCE-4CB9-B4B8-DCD76782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98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04  Returns are verified, invalidated and destroyed.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D461D6-177D-4050-8353-8452376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16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2C1EAA-A2D8-44FE-9374-59A4530D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C2E765-A5F2-4F1D-AB69-5C5DE477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CF95A3-053D-4CAB-B33E-9B271828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359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05  Only then are exactly x ΔΡΑΧ released digitally.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A28076-7C92-44CC-879F-6A8A11C5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In case of doubt the digital value stays locked: liquidity can jam; the money supply cannot grow.</a:t>
            </a:r>
          </a:p>
        </p:txBody>
      </p:sp>
    </p:spTree>
    <p:extLst>
      <p:ext uri="{BB962C8B-B14F-4D97-AF65-F5344CB8AC3E}">
        <p14:creationId xmlns:p14="http://schemas.microsoft.com/office/powerpoint/2010/main" val="4121329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BC8FCF-B9CF-4F73-873E-597A08A1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E6D27-C84D-46C3-ACDD-C3606A87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48479E-CA2A-4BC7-98E3-EAF769AE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 is limited - not magic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5F45E-EB21-468F-A3F0-E120FA2A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d238ff3d8471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78303D-45FD-4135-BA51-EEE5F584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7495C-8A00-4592-9532-2EB77687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D8625-D9F3-4DBD-BEAC-C257FE03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3CA885-E43D-4A9A-B1D4-827E890D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40529-6C75-4A35-843C-5920C331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674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maximum 150 ΔΡΑΧ per device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C0E07-273A-4E86-ADEA-8881C18D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FE7C1-C8AA-4A79-BCED-EC277D9A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8AB94E-89A0-40BF-81BF-8DC0950D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655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maximum 50 ΔΡΑΧ per payment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716FF3-7753-4938-8E2E-025E7E24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6DD14-0A2C-4160-93FE-D3243B4B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C57999-7F0C-43B2-B463-14A713DB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754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maximum three offline hops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9B23AF-5BCA-417C-BCF3-CA23FDB0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62510E-73D8-4F8C-B09B-099F95E0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B85E3A-8EB5-4167-8B96-097C3836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synchronisation within 72 hours at the latest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0778E9-4599-43D6-9AB1-E697DFA7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merchant treats offline receipts as risk-bearing until settlement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DA3552-7C10-43F9-A870-174FB710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Trustless, unlimited offline finality is expressly not promised.</a:t>
            </a:r>
          </a:p>
        </p:txBody>
      </p:sp>
    </p:spTree>
    <p:extLst>
      <p:ext uri="{BB962C8B-B14F-4D97-AF65-F5344CB8AC3E}">
        <p14:creationId xmlns:p14="http://schemas.microsoft.com/office/powerpoint/2010/main" val="19085441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CD33F8-0F36-4DDF-8BFE-C87B6F53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347ED-920A-4C9D-B8FA-D97DB9E1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OFFLINE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43353-758E-426C-B8FD-F305D5FC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The state starts - and loses the keys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497F65-ED2C-4742-99B8-5BC298E3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99d62e3ee45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E89C1-7D25-4531-8E3C-27CF36FC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3EB09-CABA-47A5-B7F9-61AAC0F4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DD302-2EBF-4FA5-B950-0D99EFEB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07286F-C587-4862-9E59-D07BF4EC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10233-9DB3-4370-9701-9CEB3888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C8DBC8-0765-41D6-ABBC-7E6BAB91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A89B0-BDBD-4629-B016-00E7E173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Day 0-90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3640F3-86B6-434A-BA4B-AF07AC18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testnet/bugfixes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AAD5DA-F8AB-45AB-853A-06CE4687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D964AE-2E5C-4A39-AC01-81B21B78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831E9-FE7A-4A3D-860E-022F7E8C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EBAE54-32D7-44E4-8164-7218A881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FF83F0-2A1E-40DD-BF5B-C07B35F7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Day 91-365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1BB083-6A44-4361-B13C-B2501563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security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20A267-B497-4E56-847B-32831421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7F686F-CEB9-4EBF-98AF-11A971FB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60005-19E9-4B4E-9B79-7737DA89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B9DEC6-77C9-4B65-9B15-ADF9F1A9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C919CB-1B73-4D45-AEBA-D9EAEF4C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Month 13-24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2B6EC0-9340-4A80-851D-D974018D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handover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F5DA78-046B-479F-99EE-BC182F18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C4776D-AB1A-4503-9F96-63B5A85E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9A58A9-7C1B-4902-B963-27E215B0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395091-0D50-40A4-A77C-793B938F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27A2E5-361B-46EF-B30B-B0CFDE8F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Sunset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3E2FE4-DB6E-4A5B-8158-E5330A00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key burn and public covenant proof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3F06B9-DB5C-4E4D-ACA4-11D3D227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Mmax, unfreezeability and cash backing are no longer governable thereafter.</a:t>
            </a:r>
          </a:p>
        </p:txBody>
      </p:sp>
    </p:spTree>
    <p:extLst>
      <p:ext uri="{BB962C8B-B14F-4D97-AF65-F5344CB8AC3E}">
        <p14:creationId xmlns:p14="http://schemas.microsoft.com/office/powerpoint/2010/main" val="16793782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A027F-257D-4E51-A2B9-F786D17E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2E40E-4ED3-4688-852D-5A260BD9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BANKING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090E8-2051-46CA-BFCC-3EAADCF6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Banks custody payments - credit bears maturity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B7959-658F-44E3-9C3B-40090C92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473390a874d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00859-9E97-4F19-BEA0-0195E881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9B562-EC0D-4832-B4C6-803571AA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F9339-B117-4B3B-8F25-C3A81F6A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0CED58-4A09-44F8-9C38-8DB3E91B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E1692-D195-4E27-AEA3-E937FCA8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Payment accounts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7D97A6-F8F8-4468-978F-BB94650B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100 % reserve in ΔΡΑΧ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insolvency-remote segregated assets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public reserve attestation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C3B397-F998-4154-87B2-76532E8A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8C0BC3-BD30-42B5-8284-9A91560B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15E3B-A51E-4EF5-B195-718AF3DF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Credit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0B46F-E808-4EF0-A44F-5BA8589C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from time deposits, bonds, equity and funds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no money-creation right of the bank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losses borne by risk capital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DC2E1B-BE9D-4906-9D8B-30A0A612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Crisis liquidity must be pre-funded.</a:t>
            </a:r>
          </a:p>
        </p:txBody>
      </p:sp>
    </p:spTree>
    <p:extLst>
      <p:ext uri="{BB962C8B-B14F-4D97-AF65-F5344CB8AC3E}">
        <p14:creationId xmlns:p14="http://schemas.microsoft.com/office/powerpoint/2010/main" val="19642024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7956CC-6E28-438E-973F-563A83B3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4717F-CFAE-44EC-803F-8BEC0671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BANKING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95A59-1290-48B6-8EBF-E6D810FE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Global economic relevance must be earned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1C734-4562-4E06-9BFC-43F16B9C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62e6798834fb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D279E-C402-468D-A7E1-E6DB43B9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A29D74-62FD-4B92-9261-F7906273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FBF4B6-20F2-4208-8020-F63601EE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6A2BD-390F-4907-8676-6FBB3EDF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5DE34-8589-4C6C-AE06-FB7CF402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Shipping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B9D40-53F6-454E-9647-FFF40597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Greece held 16.4 % of global fleet capacity in early 2025.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E8686D-83D3-45D3-812B-23A86F8E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D55308-644D-461D-841E-B2303CA6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612BB2-CC03-4EBC-97D6-0E9F7107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Tourism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AE9A7-5102-4E86-B57F-DD2F69DC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travel receipts 2025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EBC46-207A-4037-944E-60F528EA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F22BFA-ED18-4ECE-9CCB-B5BF2DEA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D7458-3FA1-4CF4-A965-13C6858A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Islands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DAEE50-47AA-446D-B918-9CA6CE2D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Naxos, Kalymnos and Syros offer different pilot profiles.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9FFF21-7E48-429D-BAF4-524EFFB0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D03CDE-B7AB-4930-9C47-2DDD8CAA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0F8D8E-E6AE-44CF-BCB4-49381A4A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Diaspora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435E58-FD2F-4332-885A-9E238D6B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free, regulated on/off-ramps instead of an official EUR desk.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F6966C-B6CE-48D1-93A2-64D990EB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BTC, ETH and gold may sit in a separate liquidity fund - never with mint or peg rights.</a:t>
            </a:r>
          </a:p>
        </p:txBody>
      </p:sp>
    </p:spTree>
    <p:extLst>
      <p:ext uri="{BB962C8B-B14F-4D97-AF65-F5344CB8AC3E}">
        <p14:creationId xmlns:p14="http://schemas.microsoft.com/office/powerpoint/2010/main" val="3825367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60196-30F6-43BB-83DE-8ADB05E8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A323D-F2D9-4DDF-B5C9-E2DD932C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GLOBAL ECONOMY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1F1A4-57E7-40BB-97BF-B94742C9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Two legal paths must not be conflated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BD217-AC20-48C6-BFEF-2DFAAA37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e4fddc43f414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A60C3-2379-46F5-B8E8-01508631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D59A8-45B1-4711-91B6-DADA967B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8C3C3-BBBE-4CEC-94B0-6F723DF1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C1EFB-23A1-4694-B151-07F87951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7F2F4-255D-43F8-BCA0-A1944FF2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Eurozone / Phase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1A96F-E185-4612-BE75-13FE03A8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research and valueless testnet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no obligation of acceptance or tax denomination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MiCA/AML/GDPR opinions and automatic sunset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7E5E8-53FF-42EC-991E-ED740C5D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5A58F-6960-4225-8149-D21883EC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E9B183-0789-4B5A-B0AC-DC5E85F4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Full monetary sovereignty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E4104D-A45B-43A0-A5C6-FF15E04B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currency act, tax denomination and legal tender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banking, cash and debt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1557E-0187-49F6-93C2-86398DCB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Separate fundamental decision; no recommendation to exit.</a:t>
            </a:r>
          </a:p>
        </p:txBody>
      </p:sp>
    </p:spTree>
    <p:extLst>
      <p:ext uri="{BB962C8B-B14F-4D97-AF65-F5344CB8AC3E}">
        <p14:creationId xmlns:p14="http://schemas.microsoft.com/office/powerpoint/2010/main" val="7552165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842FF6-691D-4456-9260-6849B69D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79D63-6AA1-4C17-AEED-530420AE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GLOBAL ECONOMY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CFADB-EA06-4FBB-8FBA-0DA61A7F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The strongest objections stay in the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D7953-C5D0-41A5-8C3F-1E72472D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51da9290f9406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17537-7BFB-478D-BC33-DD1DD2EF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A2EB0C-D8ED-45F3-BB6A-576FBA3A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212942-CAF9-47E6-9763-A0259347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C843D-DDD4-4D13-9166-B63C6569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3B300-ED5D-4FD4-AD01-2009E3C1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Deflation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C054F-BD2B-46BA-8E2F-41215B81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a fixed supply can increase the real debt burden.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7B6AE-127A-49A0-8929-8501C86C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4624E-CA36-402A-9B1C-C6A594D5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B8E8CB-1641-47C9-9CA5-030923D1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Credit scarcity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76C205-242D-4876-A5FD-84E8BA47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narrow banking makes financing more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6E8B42-F012-411B-A708-38BDF0BA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65241E-183C-43AD-98CE-4591ABCD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A57E6F-92A2-435F-9C0F-9563DA6C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Kaspa dependency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2E10D0-621E-4677-869D-D72B87AB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a third-party network is not full autarky.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F730A0-CE36-46E5-8D5B-FA257A3C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00956C-2E09-4F3B-B189-0E1138B9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D0EDDE-4D7E-4A49-A497-4B262D9B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Cash fraud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05817E-A1BC-45D6-9CB6-C0CFA96E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the physical arm remains institutional.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9550B5-8797-4077-ABA1-7F009071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242949-8B80-4CAF-AFBB-879466B0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EBF718-B316-4B2B-9470-92146A63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 double spend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9C70C4-3F20-4BE3-BF47-220D176B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losses are bounded, not eliminated.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84ED53-303D-4A64-B0F2-DDEF8B57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1DB756-5BCA-4D5E-9FCD-2345541C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9BBE09-C0A6-438F-9BCF-09F8E691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State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048D76-9BE9-41A5-BE50-615BEB20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technology prevents mint/freeze, not bans or market blockades.</a:t>
            </a:r>
          </a:p>
        </p:txBody>
      </p:sp>
    </p:spTree>
    <p:extLst>
      <p:ext uri="{BB962C8B-B14F-4D97-AF65-F5344CB8AC3E}">
        <p14:creationId xmlns:p14="http://schemas.microsoft.com/office/powerpoint/2010/main" val="8608414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BAA093-C921-42D4-9F73-AD471E12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7A496D-C97A-4BFD-991D-CD2087E3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E63C62-3691-4D14-81E0-D9A0F29C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Phase 0 delivers evidence instead of market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245BF-5C93-4FF8-BAD9-31EA4563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e02bbff2e490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34851-D1D1-4766-82E7-A6207C23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ADA47-7F61-4924-AFB7-BF58DCD9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E103C-282B-4EF3-AA99-9FE3DCFA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56D05-ED7D-4D40-8E7C-3B48EA45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335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0-3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CB4BBF-3892-431D-8045-88C8F721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335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legal questions, invariants, testnet environment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508F8-E6E1-4D0D-A8C9-EF8B7DFA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2EA09F-1047-423A-AB04-8A63044F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812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4-6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C8C938-E842-41B3-960B-D171633F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812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Constitution/Bearer PoC and supply indexer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FE6EB-A640-4388-9A53-1C68685C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65BDC5-30D8-487E-BE4A-BE9E49F4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289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7-9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D5B9B9-718A-4733-AC1E-DF3EFEDE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289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CashLot, offline laboratory, interim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7B1AAE-578B-4A28-9142-4610B5F1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7626F6-1043-4CF4-A41A-A183E053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766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10-12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CF90A0-BF93-4179-972B-6A20C8B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766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attack simulation and migration 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D10D88-B159-4C2C-A833-6A91DBCD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64B9B2-E48B-4375-B73D-557ED6F0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13-15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070F5-CBE2-461C-94DC-283342CB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243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integrated valueless demo and red team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1324CB-14F0-44E4-9C71-5004DF6F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D8D7B6-7AC6-42DB-B9D5-4B124F88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720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16-18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C95C85-0C2F-4446-84CD-673D712A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720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final assessment: Go/No-Go/Research-Only</a:t>
            </a:r>
          </a:p>
        </p:txBody>
      </p:sp>
    </p:spTree>
    <p:extLst>
      <p:ext uri="{BB962C8B-B14F-4D97-AF65-F5344CB8AC3E}">
        <p14:creationId xmlns:p14="http://schemas.microsoft.com/office/powerpoint/2010/main" val="1297324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EC2149-0FE9-4737-AF04-8A95C52C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2266C-D6A6-4083-B645-58D9B0FA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18928-4A69-4725-A38C-E6866316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Budget is bound to hard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A4466-CDBA-4839-BE2D-6CAF4A94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8914ca7c8453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F9D3A-EC3B-4279-A226-83838565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90C9F3-085A-477D-A205-D4E8040F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64E3A-63EA-40A2-B79B-ED1C9D61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EUR 0.95-1.65 million total corridor · authorisation capped at EUR 1.6 million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C3D5CE-C3D6-423B-BD1A-E2008410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8D601E-386A-4154-A6CF-97FFC12A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E1ADE-D0B7-46DC-98B9-F5BF80C7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Law and macro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68CA9-D1CE-4C3B-A657-5AAB83AA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EUR 260-420 thousand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A8B033-C466-4BCB-9AA9-7D464D11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7F925-5720-4379-A75B-95BDF79E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7AB85D-2D86-4F84-8BF6-E9A4B77A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Covenant, wallet and indexer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CFA33-B947-4F72-B2D5-5F98CD85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EUR 340-600 thousand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8B1538-C20E-4FDF-BCF7-D9634BEB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AD9806-6803-4133-8AD1-DE0A0BA6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E106FB-1C11-4FB8-8D7B-DD218237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 and cash process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6878E-31FB-4422-A0C4-D6CA282D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EUR 170-310 thousand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34EEB2-02E2-48D1-A726-2767EBEB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8337C7-2DD9-4D2B-8EA9-5531E4CA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BAC9FD-F400-4646-9B57-BACAF9C8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57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Reviews, bug bounty and programme management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F5B8CC-D14D-4D60-92A7-E3FB36A0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EUR 180-320 thousand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1B9D40-9DB0-4A4C-B3EA-974A7489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Stop: unclear legal basis, Mmax invariant not provable, immature toolchain, untenable offline/CashLot risk or a circumventable sunset.</a:t>
            </a:r>
          </a:p>
        </p:txBody>
      </p:sp>
    </p:spTree>
    <p:extLst>
      <p:ext uri="{BB962C8B-B14F-4D97-AF65-F5344CB8AC3E}">
        <p14:creationId xmlns:p14="http://schemas.microsoft.com/office/powerpoint/2010/main" val="9624138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BEDDD7-38CC-47C7-ABCE-CD9467EA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F187F-4F75-492C-AC8C-2D58581C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PHASE 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A3408-6DAA-42A4-ACD1-54034A5D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The requested resolution is deliberately small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3E8A5-78B1-4BEA-8FE7-61843DBB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6f8cbcfda450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63C59-4217-4BC6-B7CF-D7A2147D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98E5B-B9B6-41E2-891C-1FCE41EF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D2946-7B33-4596-B5CA-D66DD14F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882CD-E1FF-4289-9851-7F07E782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8487B-5DFC-45B1-85A9-40F8DC8F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764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Phase 0 research programme for a maximum of 18 months.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E7B8F-487B-41C8-85A5-851CF678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A0322-2DDF-4F09-B194-8855926F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C3390-388D-4E8F-81D1-5457E9B5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241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Funding ceiling of EUR 1.6 million.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5CF793-E201-41D2-BC71-64535BDD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B459EC-E9AE-4741-8B5B-EC01BFED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9A50C1-E137-499D-8724-3A33E611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Only testnet, simulation, legal opinions and open reference software.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F1056A-D203-4D1E-9388-27A2344A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AF2D17-2EBB-40C4-BEF3-1F6ABCC1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D5B3F-893B-4E41-8E97-A3E8B42B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Interim decision after nine months.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C12880-A7D8-434D-8012-BCD8A661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1213CF-25CF-455B-A029-1DF7AC09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CED27-88FC-4975-A25A-2F7CF16E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672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Automatic termination absent a separate continuation resolution.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56EF4E-E8AF-4CF9-BAB8-F3D136F6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Success means a robust state decision - not token price or market capitalisation.</a:t>
            </a:r>
          </a:p>
        </p:txBody>
      </p:sp>
    </p:spTree>
    <p:extLst>
      <p:ext uri="{BB962C8B-B14F-4D97-AF65-F5344CB8AC3E}">
        <p14:creationId xmlns:p14="http://schemas.microsoft.com/office/powerpoint/2010/main" val="5109781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2026-09-01T14:43:04.7650000Z</dcterms:created>
  <dcterms:modified xsi:type="dcterms:W3CDTF">2026-09-01T14:43:04.7650000Z</dcterms:modified>
</coreProperties>
</file>