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881ec2911cc4201" /><Relationship Type="http://schemas.openxmlformats.org/officeDocument/2006/relationships/extended-properties" Target="/docProps/app.xml" Id="Re9fde04e700647af" /><Relationship Type="http://schemas.openxmlformats.org/officeDocument/2006/relationships/officeDocument" Target="/ppt/presentation.xml" Id="Rc43f5fd028944ae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9f1787f17441a9"/>
  </p:sldMasterIdLst>
  <p:notesMasterIdLst>
    <p:notesMasterId xmlns:r="http://schemas.openxmlformats.org/officeDocument/2006/relationships" r:id="R423dd0a38dc8464d"/>
  </p:notesMasterIdLst>
  <p:sldIdLst>
    <p:sldId xmlns:r="http://schemas.openxmlformats.org/officeDocument/2006/relationships" id="256" r:id="R3164c88828774cd6"/>
    <p:sldId xmlns:r="http://schemas.openxmlformats.org/officeDocument/2006/relationships" id="257" r:id="Rb5005c08a0fe4931"/>
    <p:sldId xmlns:r="http://schemas.openxmlformats.org/officeDocument/2006/relationships" id="258" r:id="R146615e2a6e549c2"/>
    <p:sldId xmlns:r="http://schemas.openxmlformats.org/officeDocument/2006/relationships" id="259" r:id="R4e0a6eee97d4403f"/>
    <p:sldId xmlns:r="http://schemas.openxmlformats.org/officeDocument/2006/relationships" id="260" r:id="R7afc087fcab5417c"/>
    <p:sldId xmlns:r="http://schemas.openxmlformats.org/officeDocument/2006/relationships" id="261" r:id="R59bb629d7bfd4e1e"/>
    <p:sldId xmlns:r="http://schemas.openxmlformats.org/officeDocument/2006/relationships" id="262" r:id="R0973e963e29c4db2"/>
    <p:sldId xmlns:r="http://schemas.openxmlformats.org/officeDocument/2006/relationships" id="263" r:id="R01bb4acb16b54af8"/>
    <p:sldId xmlns:r="http://schemas.openxmlformats.org/officeDocument/2006/relationships" id="264" r:id="R2be717dc8d6d443e"/>
    <p:sldId xmlns:r="http://schemas.openxmlformats.org/officeDocument/2006/relationships" id="265" r:id="R0f622b6b055d4ca4"/>
    <p:sldId xmlns:r="http://schemas.openxmlformats.org/officeDocument/2006/relationships" id="266" r:id="R4a2e5fc93fa441a6"/>
    <p:sldId xmlns:r="http://schemas.openxmlformats.org/officeDocument/2006/relationships" id="267" r:id="R11e4a84f31414166"/>
    <p:sldId xmlns:r="http://schemas.openxmlformats.org/officeDocument/2006/relationships" id="268" r:id="R8053cef4453b46aa"/>
    <p:sldId xmlns:r="http://schemas.openxmlformats.org/officeDocument/2006/relationships" id="269" r:id="R0742fe45c7584251"/>
    <p:sldId xmlns:r="http://schemas.openxmlformats.org/officeDocument/2006/relationships" id="270" r:id="Re69ea9e85c7648ee"/>
    <p:sldId xmlns:r="http://schemas.openxmlformats.org/officeDocument/2006/relationships" id="271" r:id="R238932fed20a422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c36ef277f154230" /><Relationship Type="http://schemas.openxmlformats.org/officeDocument/2006/relationships/slideMaster" Target="/ppt/slideMasters/slideMaster1.xml" Id="Rc49f1787f17441a9" /><Relationship Type="http://schemas.openxmlformats.org/officeDocument/2006/relationships/notesMaster" Target="/ppt/notesMasters/notesMaster1.xml" Id="R423dd0a38dc8464d" /><Relationship Type="http://schemas.openxmlformats.org/officeDocument/2006/relationships/presProps" Target="/ppt/presProps.xml" Id="R023fcb1a509d4cea" /><Relationship Type="http://schemas.openxmlformats.org/officeDocument/2006/relationships/tableStyles" Target="/ppt/tableStyles.xml" Id="R088605efd23b4256" /><Relationship Type="http://schemas.openxmlformats.org/officeDocument/2006/relationships/slide" Target="/ppt/slides/slide1.xml" Id="R3164c88828774cd6" /><Relationship Type="http://schemas.openxmlformats.org/officeDocument/2006/relationships/slide" Target="/ppt/slides/slide2.xml" Id="Rb5005c08a0fe4931" /><Relationship Type="http://schemas.openxmlformats.org/officeDocument/2006/relationships/slide" Target="/ppt/slides/slide3.xml" Id="R146615e2a6e549c2" /><Relationship Type="http://schemas.openxmlformats.org/officeDocument/2006/relationships/slide" Target="/ppt/slides/slide4.xml" Id="R4e0a6eee97d4403f" /><Relationship Type="http://schemas.openxmlformats.org/officeDocument/2006/relationships/slide" Target="/ppt/slides/slide5.xml" Id="R7afc087fcab5417c" /><Relationship Type="http://schemas.openxmlformats.org/officeDocument/2006/relationships/slide" Target="/ppt/slides/slide6.xml" Id="R59bb629d7bfd4e1e" /><Relationship Type="http://schemas.openxmlformats.org/officeDocument/2006/relationships/slide" Target="/ppt/slides/slide7.xml" Id="R0973e963e29c4db2" /><Relationship Type="http://schemas.openxmlformats.org/officeDocument/2006/relationships/slide" Target="/ppt/slides/slide8.xml" Id="R01bb4acb16b54af8" /><Relationship Type="http://schemas.openxmlformats.org/officeDocument/2006/relationships/slide" Target="/ppt/slides/slide9.xml" Id="R2be717dc8d6d443e" /><Relationship Type="http://schemas.openxmlformats.org/officeDocument/2006/relationships/slide" Target="/ppt/slides/slide10.xml" Id="R0f622b6b055d4ca4" /><Relationship Type="http://schemas.openxmlformats.org/officeDocument/2006/relationships/slide" Target="/ppt/slides/slide11.xml" Id="R4a2e5fc93fa441a6" /><Relationship Type="http://schemas.openxmlformats.org/officeDocument/2006/relationships/slide" Target="/ppt/slides/slide12.xml" Id="R11e4a84f31414166" /><Relationship Type="http://schemas.openxmlformats.org/officeDocument/2006/relationships/slide" Target="/ppt/slides/slide13.xml" Id="R8053cef4453b46aa" /><Relationship Type="http://schemas.openxmlformats.org/officeDocument/2006/relationships/slide" Target="/ppt/slides/slide14.xml" Id="R0742fe45c7584251" /><Relationship Type="http://schemas.openxmlformats.org/officeDocument/2006/relationships/slide" Target="/ppt/slides/slide15.xml" Id="Re69ea9e85c7648ee" /><Relationship Type="http://schemas.openxmlformats.org/officeDocument/2006/relationships/slide" Target="/ppt/slides/slide16.xml" Id="R238932fed20a422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a0ee37f483422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07ee3301194e15" /><Relationship Type="http://schemas.openxmlformats.org/officeDocument/2006/relationships/notesMaster" Target="/ppt/notesMasters/notesMaster1.xml" Id="R6d6173e57aa4403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315f2c2c6654636" /><Relationship Type="http://schemas.openxmlformats.org/officeDocument/2006/relationships/notesMaster" Target="/ppt/notesMasters/notesMaster1.xml" Id="R25b29f4e22e041b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3c8ca62a584c62" /><Relationship Type="http://schemas.openxmlformats.org/officeDocument/2006/relationships/notesMaster" Target="/ppt/notesMasters/notesMaster1.xml" Id="R5755f054bb10426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46bba737b3c4ae7" /><Relationship Type="http://schemas.openxmlformats.org/officeDocument/2006/relationships/notesMaster" Target="/ppt/notesMasters/notesMaster1.xml" Id="Rcb3164128e6041e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a51625be5b34b66" /><Relationship Type="http://schemas.openxmlformats.org/officeDocument/2006/relationships/notesMaster" Target="/ppt/notesMasters/notesMaster1.xml" Id="R92292fb597374a9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7b7ed1a183149f0" /><Relationship Type="http://schemas.openxmlformats.org/officeDocument/2006/relationships/notesMaster" Target="/ppt/notesMasters/notesMaster1.xml" Id="R65970f3bf3a7421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b5f6ad5ffc84c05" /><Relationship Type="http://schemas.openxmlformats.org/officeDocument/2006/relationships/notesMaster" Target="/ppt/notesMasters/notesMaster1.xml" Id="R0eae96820c7f4a7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9cee27a7d274a8d" /><Relationship Type="http://schemas.openxmlformats.org/officeDocument/2006/relationships/notesMaster" Target="/ppt/notesMasters/notesMaster1.xml" Id="R8e1be6ab396b4ec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ce8931306664b80" /><Relationship Type="http://schemas.openxmlformats.org/officeDocument/2006/relationships/notesMaster" Target="/ppt/notesMasters/notesMaster1.xml" Id="R7425c1fb788d411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6cd08b2284e4b76" /><Relationship Type="http://schemas.openxmlformats.org/officeDocument/2006/relationships/notesMaster" Target="/ppt/notesMasters/notesMaster1.xml" Id="R781116598f774d7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55dfb535835419c" /><Relationship Type="http://schemas.openxmlformats.org/officeDocument/2006/relationships/notesMaster" Target="/ppt/notesMasters/notesMaster1.xml" Id="R79fb48c4fc3a4c4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6522686c8ca4b2e" /><Relationship Type="http://schemas.openxmlformats.org/officeDocument/2006/relationships/notesMaster" Target="/ppt/notesMasters/notesMaster1.xml" Id="Rce465778d4434ac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1a7433c59d24909" /><Relationship Type="http://schemas.openxmlformats.org/officeDocument/2006/relationships/notesMaster" Target="/ppt/notesMasters/notesMaster1.xml" Id="R4d5a9af754aa490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066c333da384a2a" /><Relationship Type="http://schemas.openxmlformats.org/officeDocument/2006/relationships/notesMaster" Target="/ppt/notesMasters/notesMaster1.xml" Id="R23057012109b4b5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85e2a671cca4979" /><Relationship Type="http://schemas.openxmlformats.org/officeDocument/2006/relationships/notesMaster" Target="/ppt/notesMasters/notesMaster1.xml" Id="Rbff0717799f9456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95d7587e195493e" /><Relationship Type="http://schemas.openxmlformats.org/officeDocument/2006/relationships/notesMaster" Target="/ppt/notesMasters/notesMaster1.xml" Id="R378ed95deb5b49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Πλήρης λευκή βίβλος ΔΡΑΧ, κεφάλαια 0, 11 και 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Πλήρης λευκή βίβλος ΔΡΑΧ, κεφάλαια 2, 4 και 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Πλήρης λευκή βίβλος ΔΡΑΧ, κεφάλαιο 2.2 και Παράρτημα Α.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https://docs.kaspa.org/toccata</a:t>
            </a:r>
          </a:p>
          <a:p xmlns:a="http://schemas.openxmlformats.org/drawingml/2006/main">
            <a:r>
              <a:t>- https://docs.kaspa.org/toccata/agent-brief</a:t>
            </a:r>
          </a:p>
          <a:p xmlns:a="http://schemas.openxmlformats.org/drawingml/2006/main">
            <a:r>
              <a:t>- https://github.com/kaspanet/silverscript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Πλήρης λευκή βίβλος ΔΡΑΧ, κεφάλαιο 3.</a:t>
            </a:r>
          </a:p>
          <a:p xmlns:a="http://schemas.openxmlformats.org/drawingml/2006/main">
            <a:r>
              <a:t>- https://docs.kaspa.org/toccata/agent-brief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Πλήρης λευκή βίβλος ΔΡΑΧ, κεφάλαιο 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Πλήρης λευκή βίβλος ΔΡΑΧ, κεφάλαιο 5.</a:t>
            </a:r>
          </a:p>
          <a:p xmlns:a="http://schemas.openxmlformats.org/drawingml/2006/main">
            <a:r>
              <a:t>- https://www.ecb.europa.eu/euro/digital_euro/pilot/html/ecb.faq-digital-euro-pilot.de.html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Πλήρης λευκή βίβλος ΔΡΑΧ, κεφάλαιο 7.</a:t>
            </a:r>
          </a:p>
          <a:p xmlns:a="http://schemas.openxmlformats.org/drawingml/2006/main">
            <a:r>
              <a:t>- Μεθοδολογική αναφορά: χρονικά λήγουσες έκτακτες εξουσίες από το έργο 1kUSD.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Πλήρης λευκή βίβλος ΔΡΑΧ, κεφάλαιο 6.</a:t>
            </a:r>
          </a:p>
          <a:p xmlns:a="http://schemas.openxmlformats.org/drawingml/2006/main">
            <a:r>
              <a:t>- https://www.elibrary.imf.org/view/journals/007/1999/009/article-A004-en.xml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https://unctad.org/system/files/official-document/rmt2025overview_en.pdf</a:t>
            </a:r>
          </a:p>
          <a:p xmlns:a="http://schemas.openxmlformats.org/drawingml/2006/main">
            <a:r>
              <a:t>- https://www.bankofgreece.gr/en/news-and-media/press-office/news-list/news?announcement=27a32287-1c58-44e7-b900-2c92c53ffe9c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https://eur-lex.europa.eu/eli/treaty/tfeu_2012/art_128/oj/deu</a:t>
            </a:r>
          </a:p>
          <a:p xmlns:a="http://schemas.openxmlformats.org/drawingml/2006/main">
            <a:r>
              <a:t>- https://eur-lex.europa.eu/eli/reg/1998/974/oj</a:t>
            </a:r>
          </a:p>
          <a:p xmlns:a="http://schemas.openxmlformats.org/drawingml/2006/main">
            <a:r>
              <a:t>- https://eur-lex.europa.eu/eli/reg/2023/1114/oj</a:t>
            </a:r>
          </a:p>
          <a:p xmlns:a="http://schemas.openxmlformats.org/drawingml/2006/main">
            <a:r>
              <a:t>- https://www.bankofgreece.gr/en/main-tasks/supervision/regulation-eu-2023_1114-on-markets-in-crypto-assets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Πλήρης λευκή βίβλος ΔΡΑΧ, κεφάλαια 1.3, 6, 10 και 17.</a:t>
            </a:r>
          </a:p>
          <a:p xmlns:a="http://schemas.openxmlformats.org/drawingml/2006/main">
            <a:r>
              <a:t>- https://www.bis.org/publications/aer-2025/next-generation-monetary-financial-system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Πλήρης λευκή βίβλος ΔΡΑΧ, κεφάλαιο 11.3.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Πλήρης λευκή βίβλος ΔΡΑΧ, κεφάλαια 11.1 και 11.4.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Πλήρης λευκή βίβλος ΔΡΑΧ, κεφάλαιο 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1bdefb87804be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d35c9a3aed49e6" /><Relationship Type="http://schemas.openxmlformats.org/officeDocument/2006/relationships/slideLayout" Target="/ppt/slideLayouts/slideLayout1.xml" Id="Rc4cc02ac376a4b6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4cc02ac376a4b6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ce894675d04fab" /><Relationship Type="http://schemas.openxmlformats.org/officeDocument/2006/relationships/image" Target="/ppt/media/image.jpeg" Id="Rf1f9195442314481" /><Relationship Type="http://schemas.openxmlformats.org/officeDocument/2006/relationships/notesSlide" Target="/ppt/notesSlides/notesSlide1.xml" Id="Rbac3ff4cd3f841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2da3d14af84c23" /><Relationship Type="http://schemas.openxmlformats.org/officeDocument/2006/relationships/image" Target="/ppt/media/image2.jpeg" Id="Raec7334b808e434e" /><Relationship Type="http://schemas.openxmlformats.org/officeDocument/2006/relationships/notesSlide" Target="/ppt/notesSlides/notesSlide2.xml" Id="R66476a1785374d9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84c285da334af0" /><Relationship Type="http://schemas.openxmlformats.org/officeDocument/2006/relationships/image" Target="/ppt/media/image3.jpeg" Id="R8b0b2104115a454f" /><Relationship Type="http://schemas.openxmlformats.org/officeDocument/2006/relationships/notesSlide" Target="/ppt/notesSlides/notesSlide3.xml" Id="Rdf55ee27571543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b8298269374d73" /><Relationship Type="http://schemas.openxmlformats.org/officeDocument/2006/relationships/image" Target="/ppt/media/image4.jpeg" Id="Rd21e0a5216f24e92" /><Relationship Type="http://schemas.openxmlformats.org/officeDocument/2006/relationships/notesSlide" Target="/ppt/notesSlides/notesSlide4.xml" Id="Rb1fb2b88baa54a5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96fe2059464b6f" /><Relationship Type="http://schemas.openxmlformats.org/officeDocument/2006/relationships/image" Target="/ppt/media/image5.jpeg" Id="R9c0559bdfc3c43fc" /><Relationship Type="http://schemas.openxmlformats.org/officeDocument/2006/relationships/notesSlide" Target="/ppt/notesSlides/notesSlide5.xml" Id="R0dae3c02c9dd4a7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386949c4f9414a" /><Relationship Type="http://schemas.openxmlformats.org/officeDocument/2006/relationships/image" Target="/ppt/media/image6.jpeg" Id="R34e9f56238594a5e" /><Relationship Type="http://schemas.openxmlformats.org/officeDocument/2006/relationships/notesSlide" Target="/ppt/notesSlides/notesSlide6.xml" Id="Recd6d8586fb6463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a848f576764077" /><Relationship Type="http://schemas.openxmlformats.org/officeDocument/2006/relationships/image" Target="/ppt/media/image7.jpeg" Id="Ra59129d0eb39489c" /><Relationship Type="http://schemas.openxmlformats.org/officeDocument/2006/relationships/notesSlide" Target="/ppt/notesSlides/notesSlide7.xml" Id="Raff65f569a6148a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37b4005b0f4a30" /><Relationship Type="http://schemas.openxmlformats.org/officeDocument/2006/relationships/image" Target="/ppt/media/image8.jpeg" Id="R730f853ea0d54149" /><Relationship Type="http://schemas.openxmlformats.org/officeDocument/2006/relationships/notesSlide" Target="/ppt/notesSlides/notesSlide8.xml" Id="Rff5447b831aa485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1270d788eb4832" /><Relationship Type="http://schemas.openxmlformats.org/officeDocument/2006/relationships/image" Target="/ppt/media/image9.jpeg" Id="R8709626b80f346f0" /><Relationship Type="http://schemas.openxmlformats.org/officeDocument/2006/relationships/notesSlide" Target="/ppt/notesSlides/notesSlide9.xml" Id="R7e2a0b5863314a0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a4869b45d14492" /><Relationship Type="http://schemas.openxmlformats.org/officeDocument/2006/relationships/image" Target="/ppt/media/image10.jpeg" Id="R9293b4dda2f24ba5" /><Relationship Type="http://schemas.openxmlformats.org/officeDocument/2006/relationships/notesSlide" Target="/ppt/notesSlides/notesSlide10.xml" Id="Rb7444a5af67f470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794e4f10514440" /><Relationship Type="http://schemas.openxmlformats.org/officeDocument/2006/relationships/image" Target="/ppt/media/image11.jpeg" Id="R4315a0eaffe94438" /><Relationship Type="http://schemas.openxmlformats.org/officeDocument/2006/relationships/notesSlide" Target="/ppt/notesSlides/notesSlide11.xml" Id="Rca61441b91f5430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f25c9ec9ef4ac8" /><Relationship Type="http://schemas.openxmlformats.org/officeDocument/2006/relationships/image" Target="/ppt/media/image12.jpeg" Id="R2de6443d30924f08" /><Relationship Type="http://schemas.openxmlformats.org/officeDocument/2006/relationships/notesSlide" Target="/ppt/notesSlides/notesSlide12.xml" Id="R1809c2534c5b4b7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9c9bdce86141f1" /><Relationship Type="http://schemas.openxmlformats.org/officeDocument/2006/relationships/image" Target="/ppt/media/image13.jpeg" Id="R2ba311e7dd304bd9" /><Relationship Type="http://schemas.openxmlformats.org/officeDocument/2006/relationships/notesSlide" Target="/ppt/notesSlides/notesSlide13.xml" Id="Rd06b3541eb584b8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49dc60d6db4168" /><Relationship Type="http://schemas.openxmlformats.org/officeDocument/2006/relationships/image" Target="/ppt/media/image14.jpeg" Id="Rdb69d5b29c294092" /><Relationship Type="http://schemas.openxmlformats.org/officeDocument/2006/relationships/notesSlide" Target="/ppt/notesSlides/notesSlide14.xml" Id="R7dfb01408968472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13e80129a04cc2" /><Relationship Type="http://schemas.openxmlformats.org/officeDocument/2006/relationships/image" Target="/ppt/media/image15.jpeg" Id="R82aedb5d283a4d57" /><Relationship Type="http://schemas.openxmlformats.org/officeDocument/2006/relationships/notesSlide" Target="/ppt/notesSlides/notesSlide15.xml" Id="Ra6298a9b0808452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4b5d155deb41cf" /><Relationship Type="http://schemas.openxmlformats.org/officeDocument/2006/relationships/image" Target="/ppt/media/image16.jpeg" Id="Rba7ba79171ba48c9" /><Relationship Type="http://schemas.openxmlformats.org/officeDocument/2006/relationships/notesSlide" Target="/ppt/notesSlides/notesSlide16.xml" Id="R124c06c52976482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72D08D-3FE2-4C08-AC4D-9F2F50ED2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35A4FF-83A5-4FEF-BAE5-406B4429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8F9B21-657B-4FFC-9854-982BCD5E9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496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0C87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0C873"/>
                </a:solidFill>
                <a:latin typeface="Aptos"/>
                <a:ea typeface="Aptos"/>
                <a:cs typeface="Aptos"/>
              </a:rPr>
              <a:t>ΔΗΜΟΣΙΑ ΕΡΕΥΝΗΤΙΚΗ ΕΚΔΟΣΗ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8A9CA5-C8B8-4927-8DBC-49F5C0CFD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048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357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5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5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ΠΡΟΓΡΑΜΜΑ DRX — ΑΝΕΞΑΡΤΗΤΗ ΔΡΑΧΜΗ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56117B-37D2-4F9A-9599-448A69F71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657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0C87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0C873"/>
                </a:solidFill>
                <a:latin typeface="Aptos"/>
                <a:ea typeface="Aptos"/>
                <a:cs typeface="Aptos"/>
              </a:rPr>
              <a:t>Ελληνική Πρωτοβουλία Νομισματικής Τεχνολογίας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D530C8-302F-4F14-94A4-EBBB8862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95625"/>
            <a:ext cx="647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>
                <a:solidFill>
                  <a:srgbClr val="D7E0E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D7E0E8"/>
                </a:solidFill>
                <a:latin typeface="Aptos"/>
                <a:ea typeface="Aptos"/>
                <a:cs typeface="Aptos"/>
              </a:rPr>
              <a:t>Μελέτη σκοπιμότητας για μια σκληρή ψηφιακή και φυσική λογιστική μονάδα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7C63C0-9FDC-442E-AC25-C7F12EF5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647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dig Δραχμή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C6699A-9828-4EF2-9ABA-EFF32B10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647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Vendetta Labs · Gio (Kaspartizan)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EAD64B-8ECC-4780-B6FF-0751A468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4355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Δημόσια ερευνητική έκδοση · 1 Σεπτεμβρίου 2026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f919544231448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53500" y="1657350"/>
            <a:ext cx="2476500" cy="2476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0094C9-F0D4-4BFE-976B-DB2B2FEA7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482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F0C8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0C873"/>
                </a:solidFill>
                <a:latin typeface="Aptos"/>
                <a:ea typeface="Aptos"/>
                <a:cs typeface="Aptos"/>
              </a:rPr>
              <a:t>INDEPENDENT PUBLIC FEASIBILITY STUDY</a:t>
            </a:r>
          </a:p>
        </p:txBody>
      </p:sp>
    </p:spTree>
    <p:extLst>
      <p:ext uri="{BB962C8B-B14F-4D97-AF65-F5344CB8AC3E}">
        <p14:creationId xmlns:p14="http://schemas.microsoft.com/office/powerpoint/2010/main" val="1246690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938C85-3489-4C47-91E1-656E9F8D4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5540E2-C51F-4857-84ED-DA3A857DD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ΕΝΤΟΛΗ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9F7B1A-D8AA-4090-AE36-7B6D222E3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Ζητείται έρευνα - όχι εισαγωγή νομίσματος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7AFBD1-E811-4BC1-BF87-F52E02C60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c7334b808e434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2A957A-D829-4088-A5AB-B40454474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AD9273-8C1C-42CF-B5CE-69C12BB2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F26DFE-A8CA-4C17-A962-14A9140B7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Φάση 0 · 12-18 μήνες · το πολύ 1,6 εκατ. ευρώ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2887E7-2CFC-42A2-B878-E888FFF8A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77AC8D-E3CE-4115-8500-283606EF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701FB0-B5D2-4C3B-9A6E-E7B3224FC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2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Νομικά πορίσματα και μακροοικονομική προσομοίωση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543448-57E5-484A-9258-B71B368F4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691C10-C3E3-4FDE-BDFC-64F7D0E6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5870EB-21EE-403F-B877-0C5B6926E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383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πρωτότυπο testnet Kaspa Toccata χωρίς αξία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F3FEC8-1F44-41DE-936B-D228A6596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7F4A78-C0A9-4B62-9BAC-EFAA64E1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0A41A4-9EBA-4F85-B9E2-B44CB4555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36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εργαστηριακές δοκιμές CashLot και εκτός σύνδεσης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CAFCE9-3F5C-4531-9A65-44410CEB6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4F231F-9BBF-4136-A68F-AB165CC0B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5B21D0-6C5F-4D3F-963A-B1E0C4E23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1719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αυτόματο sunset ελλείψει νέας απόφασης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B005F3-58A4-417D-939E-53BB39A6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Δεν ζητείται: αξία σε mainnet, τραπεζογραμμάτια με ονομαστική αξία, φορολογική αποδοχή, νόμιμο μέσο πληρωμής ή απόφαση Grexit.</a:t>
            </a:r>
          </a:p>
        </p:txBody>
      </p:sp>
    </p:spTree>
    <p:extLst>
      <p:ext uri="{BB962C8B-B14F-4D97-AF65-F5344CB8AC3E}">
        <p14:creationId xmlns:p14="http://schemas.microsoft.com/office/powerpoint/2010/main" val="10178631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C35CD1-3AFD-4A7C-B2E8-A1A635DA6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B1419A-7719-4A49-9813-AB7C566E1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ΝΟΜΙΣΜΑΤΙΚΟ ΣΥΝΤΑΓΜΑ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836933-21A8-4F26-A74A-BE189A2E1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Μία μονάδα - τέσσερις μορφές φορέα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A7FDE7-1B45-45CB-9733-7B81747A6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0b2104115a454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2C061D-74BD-49BE-9F8A-5CCA7561C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7C7DA0-8060-4A01-8033-156EF58A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F37664-A298-4F0E-8927-525E4D940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Η ΔΡΑΧ δεν είναι CBDC ούτε stablecoin.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A7A6A2-995C-4F57-BCC1-217E27852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8CCB44-A58B-4902-A363-403319EA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5462AE-5D63-4580-88E7-29C85CF1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554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ψηφιακή αξία στον κομιστή (bearer value) σε αυτοεπιμέλεια (self-custody)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E6EAD2-4885-492C-B5D3-2BC2814B7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E2835C-BEE5-40C4-9584-78081B54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3BB59A-9722-4C01-B813-DE25F2AED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213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561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προχρηματοδοτημένη αξία εκτός σύνδεσης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637D67-8A71-4BDA-9F5A-7987047E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37C14D-C982-4B7A-A778-D97805484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79BDB0-0C9A-457A-938C-5EB43F1E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τραπεζογραμμάτια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C38265-C896-4345-8CC8-F860EAF69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5C5C66-4BA9-47E5-8713-97745AA6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91C87F-1397-406B-93D4-0ECDCF891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7338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κέρματα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C52D9A-5285-4373-8D8A-474A58D75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Όλες οι μορφές μοιράζονται την ίδια νομισματική μάζα. Φυσικό χρήμα δημιουργείται μόνο έναντι ισότιμης ψηφιακής δέσμευσης.</a:t>
            </a:r>
          </a:p>
        </p:txBody>
      </p:sp>
    </p:spTree>
    <p:extLst>
      <p:ext uri="{BB962C8B-B14F-4D97-AF65-F5344CB8AC3E}">
        <p14:creationId xmlns:p14="http://schemas.microsoft.com/office/powerpoint/2010/main" val="4503664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60EDE2-C8F6-444E-96E3-BDECBCF6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CC5583-3C10-4F6A-91B4-B5DB51C86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ΠΡΩΤΟΚΟΛΛΟ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44DF02-7823-4B20-BC9B-C54606FEE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Το σύνταγμα χωρά σε μία εξίσωση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CBC102-DBFF-4F8B-917B-9B794D303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1e0a5216f24e9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7BD336-5DEB-4B86-A285-C6BD751E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1CDB28-98CA-4DBF-B752-DB465F6F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BC51FF-AC08-4799-BED2-02945223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9728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4050" b="1">
                <a:solidFill>
                  <a:srgbClr val="D9A84E"/>
                </a:solidFill>
                <a:latin typeface="Georgia"/>
                <a:ea typeface="Georgia"/>
                <a:cs typeface="Georgia"/>
              </a:defRPr>
            </a:pPr>
            <a:r>
              <a:rPr sz="4050" b="1">
                <a:solidFill>
                  <a:srgbClr val="D9A84E"/>
                </a:solidFill>
                <a:latin typeface="Georgia"/>
                <a:ea typeface="Georgia"/>
                <a:cs typeface="Georgia"/>
              </a:rPr>
              <a:t>S = D + P + O + E ≤ Mmax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46891C-AA93-49DB-9FC4-FCC0F06AB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F7D69A-D770-49A1-8319-76A8CB63D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750EA1-ECBD-4DA1-9586-A21ADC36E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B9DAB4-335C-4704-8D36-EEFFDA18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66975"/>
            <a:ext cx="2252663" cy="339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ψηφιακά ελεύθερα κυκλοφορούντα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3002FD-09FF-42AD-89B1-E2034288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F31464-C8C1-4B3F-A050-D0DF213E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D7FCFC-5FFB-4FA2-B073-A339C0A0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213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6AF780-A6DE-4B4B-A37C-0ABA5B122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213" y="2466975"/>
            <a:ext cx="2252663" cy="339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δεσμευμένα για χαρτί και μέταλλο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845878-A4BF-4EF2-9172-E3D5207B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D1A499-F504-4D07-9398-13158E97F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FA44BC-2F4A-4171-8BF7-1BDE0DD51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DAD9FD-BBBC-421A-B00C-5BC8585E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466975"/>
            <a:ext cx="2252663" cy="339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δεσμευμένα για πληρωμή εκτός σύνδεσης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09FDD8-8294-4800-AE5B-9EBF79364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0218AF-5885-4463-A6A6-4029B98C2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8A2D76-E13A-48A1-BBDD-69735DF88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7338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ECFEA9-7CD6-4FFC-AC73-922DF715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7338" y="2466975"/>
            <a:ext cx="2252663" cy="339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αυστηρά καθορισμένες ειδικές καταστάσεις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9A23DE-2F80-44CD-96AA-7B3B975A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Οι αλλαγές μορφής δεν μεταβάλλουν το S. Καμία έκτακτη έκδοση (mint).</a:t>
            </a:r>
          </a:p>
        </p:txBody>
      </p:sp>
    </p:spTree>
    <p:extLst>
      <p:ext uri="{BB962C8B-B14F-4D97-AF65-F5344CB8AC3E}">
        <p14:creationId xmlns:p14="http://schemas.microsoft.com/office/powerpoint/2010/main" val="10155451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D843B3-D824-41F6-B8D1-E753690E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DB1A6C-B4D8-450E-A2C6-D91F40B79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ΠΡΩΤΟΚΟΛΛΟ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EC7268-D175-485C-9402-A147A144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Το Kaspa Toccata ταιριάζει στο μοντέλο bearer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674720-23C9-4E88-9011-2F2960AEB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0559bdfc3c43f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24D0B-E30E-4553-9335-0BF7BC24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03F9F7-4D6B-4164-9E77-A227B3BFD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9E0CBE-0D57-4C1C-AFCC-93827FC08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3143250" cy="36195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177979-3BF4-4962-87F3-C650084B5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257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750" b="1">
                <a:solidFill>
                  <a:srgbClr val="F0C873"/>
                </a:solidFill>
                <a:latin typeface="Georgia"/>
                <a:ea typeface="Georgia"/>
                <a:cs typeface="Georgia"/>
              </a:defRPr>
            </a:pPr>
            <a:r>
              <a:rPr sz="3750" b="1">
                <a:solidFill>
                  <a:srgbClr val="F0C873"/>
                </a:solidFill>
                <a:latin typeface="Georgia"/>
                <a:ea typeface="Georgia"/>
                <a:cs typeface="Georgia"/>
              </a:rPr>
              <a:t>UTXO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F4661E-7DEA-4100-8600-C8299AE8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2571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LOCAL RULES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GLOBAL SETTLEMENT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C911E6-6E9A-4545-9E2A-56F37FE8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6725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EBDCA"/>
                </a:solidFill>
                <a:latin typeface="Aptos"/>
                <a:ea typeface="Aptos"/>
                <a:cs typeface="Aptos"/>
              </a:rPr>
              <a:t>KASPA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EBDCA"/>
                </a:solidFill>
                <a:latin typeface="Aptos"/>
                <a:ea typeface="Aptos"/>
                <a:cs typeface="Aptos"/>
              </a:rPr>
              <a:t>TOCCATA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CF7B30-3355-4F82-8106-AB8A512E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C5FA1D-04E3-4FA8-A621-A539A30D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BA2262-2E88-41B0-8E6B-2BBB18D34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650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Εγγενή covenants σε επίπεδο UTXO αντί για κεντρικό μητρώο λογαριασμών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270CD6-B915-4A84-916C-7B602062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FA9072-4649-4FF6-A616-AC845C3E6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D40BB2-B67D-4DFC-A896-87DBA3DA4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383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62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κάθε spend επικυρώνει επιτρεπόμενους διαδόχους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3922EE-7625-49E8-A462-602D283F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1F80AF-7ABA-436A-AFB9-08F80F3D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D07F30-FDB0-417F-B745-BE6275FC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τοπικά αναλλοίωτα split/merge/transfer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CA55DF-EA2E-4555-896B-8D7398CBE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94BB91-D52A-4D61-AD51-5B503F4FD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B50836-9EFC-4F6A-BDC9-8DCE08D9B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1719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763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παράλληλες πληρωμές χωρίς καθολικό αποθεματικό υπολοίπων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E8FB4D-28F4-44D7-858F-A76C08AC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791200"/>
            <a:ext cx="7581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Όμως: Τέλη KAS, compiler, wallets και indexers παραμένουν εξωτερικές εξαρτήσεις. Δοκιμή μετανάστευσης είναι υποχρεωτική.</a:t>
            </a:r>
          </a:p>
        </p:txBody>
      </p:sp>
    </p:spTree>
    <p:extLst>
      <p:ext uri="{BB962C8B-B14F-4D97-AF65-F5344CB8AC3E}">
        <p14:creationId xmlns:p14="http://schemas.microsoft.com/office/powerpoint/2010/main" val="183518990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32C6E4-6982-4F5A-9263-899FA2063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39CAC1-E0FB-4604-841E-F0CD95C06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ΠΡΩΤΟΚΟΛΛΟ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6C33F0-CD9A-4BB9-9E20-60A1C600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Ο τεχνικός πυρήνας παραμένει μικρός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602F22-5FD2-4A05-B82E-6EB186087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e9f56238594a5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522DE8-8BB5-4B60-BB97-17A195F22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3F639A-8C95-46F4-8514-6CA68BB53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0BE658-337E-4D70-9BC1-061EBD94D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361352-A6E6-4795-A569-F3E7C2AB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E405B3-9CF0-4A08-BA89-FD1F8F2D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Constitution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3C985D-1482-43D3-95E6-DE534488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669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M0, Mmax, πρόγραμμα έκδοσης, sunset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BEF3F7-A789-433F-8A06-1D20D724A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859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1BC1AF-E769-4D40-8568-93C48D7A6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EE69A0-8582-41C6-AB0F-37F9FE5A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383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Bearer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BB6441-C0A1-4B29-B358-BF299927A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669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split, merge, transfer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8C1F1A-A6C3-4112-8ED5-6077F26F6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859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BDCEED-7C97-4296-A09F-15CC6D2ED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1E6BEE-D255-405B-8175-7ECFA96F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383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CashLot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A35A9A-3418-48D0-911A-7DDD4A2E3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669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φυσική έκδοση και καταστροφή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ED2620-9EE1-4B54-AC64-2DA0D379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91FA9C-05E3-4108-8109-3BDEF9A8D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F14916-E20C-4F5D-A6D1-9F21C1EC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OfflineLock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BC97EF-D538-4DFB-962F-CA3DE771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005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προχρηματοδοτημένη αξία εκτός σύνδεσης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28C305-C676-4901-AAE1-5EF75BFF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195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F71528-A778-4869-AE96-80C541B5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17DB32-1CBE-4F1B-A445-4C0CD6A8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1719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Recovery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98BA1D-DE85-481F-BC91-2419E9C0A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6005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αυστηρά περιορισμένες διαφορές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CD54DB-7FDC-44AD-870A-8B5AD7074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Κανένα oracle, peg EUR, blacklist ή καθολικός διακόπτης παύσης.</a:t>
            </a:r>
          </a:p>
        </p:txBody>
      </p:sp>
    </p:spTree>
    <p:extLst>
      <p:ext uri="{BB962C8B-B14F-4D97-AF65-F5344CB8AC3E}">
        <p14:creationId xmlns:p14="http://schemas.microsoft.com/office/powerpoint/2010/main" val="20410788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DE319A-E359-4D8F-9A4E-16B66DCB0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3FB87B-B949-4328-9388-8A727AD48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ΜΕΤΡΗΤΑ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0E2130-EE9D-4401-99F3-BCD59953B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Τραπεζογραμμάτιο και token είναι η ίδια υποχρέωση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403C6F-4611-4830-9B2C-C6A91F3BC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129d0eb39489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5D3DB6-2F19-4301-A501-BABD2C86C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D1B633-64C3-42C9-A18A-4B8EFBC6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4858FE-C065-45AD-A999-34E103B35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118360" cy="2762250"/>
          </a:xfrm>
          <a:prstGeom xmlns:a="http://schemas.openxmlformats.org/drawingml/2006/main" prst="roundRect">
            <a:avLst>
              <a:gd name="adj" fmla="val 80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5663F2-95D7-4773-A98D-334A73F57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F229BC-4D54-4891-93E2-1DE66E96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47900"/>
            <a:ext cx="17564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527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01  Τράπεζα ή Cash Utility δεσμεύει x ΔΡΑΧ στο CashLot.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775F88-A99A-4C0D-AA54-D6EB1AC0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0335" y="314325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431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D9A84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9A84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E35416-D070-4DED-BCAD-5F3A0BC0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2095500"/>
            <a:ext cx="2118360" cy="2762250"/>
          </a:xfrm>
          <a:prstGeom xmlns:a="http://schemas.openxmlformats.org/drawingml/2006/main" prst="roundRect">
            <a:avLst>
              <a:gd name="adj" fmla="val 80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7B40A8-55A3-49A1-9F35-C4F7E9FA6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2095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89F416-4C98-45D3-B999-18FA3135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760" y="2247900"/>
            <a:ext cx="17564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422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02  Τυπογραφείο/νομισματοκοπείο παράγει μόνο έναντι έγκυρου warrant.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78048C-3E83-4CC3-AA58-AADB0B14A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3945" y="314325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431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D9A84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9A84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47665C-819E-4619-8D30-1B58962F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6820" y="2095500"/>
            <a:ext cx="2118360" cy="2762250"/>
          </a:xfrm>
          <a:prstGeom xmlns:a="http://schemas.openxmlformats.org/drawingml/2006/main" prst="roundRect">
            <a:avLst>
              <a:gd name="adj" fmla="val 80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059B2F-8D18-4CE2-89D5-604EA2C80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6820" y="2095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712280-982F-4412-BBB4-0090CDCB2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6370" y="2247900"/>
            <a:ext cx="17564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561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03  Ελεγκτής πιστοποιεί την παρτίδα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90773C-7727-4470-A59E-6D29DB27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6370" y="2676525"/>
            <a:ext cx="175641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η έκδοση μεταβαίνει σε «Issued».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56E47E-FE7D-4ACF-A3F8-78065AD7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7555" y="314325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431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D9A84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9A84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2A25A4-24A3-450F-8AC4-6F53966E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0430" y="2095500"/>
            <a:ext cx="2118360" cy="2762250"/>
          </a:xfrm>
          <a:prstGeom xmlns:a="http://schemas.openxmlformats.org/drawingml/2006/main" prst="roundRect">
            <a:avLst>
              <a:gd name="adj" fmla="val 80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D8EF55-88A9-4BF5-BE52-22555B62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0430" y="2095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E887E1-4AAF-4C0F-A22D-51A6865B6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9980" y="2247900"/>
            <a:ext cx="17564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508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04  Η επιστροφή ελέγχεται, ακυρώνεται και καταστρέφεται.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590438-A6A2-482A-AAAC-20069EFD7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1165" y="314325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431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D9A84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9A84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B55B71-F3D6-4683-B475-38BFB8E94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095500"/>
            <a:ext cx="2118360" cy="2762250"/>
          </a:xfrm>
          <a:prstGeom xmlns:a="http://schemas.openxmlformats.org/drawingml/2006/main" prst="roundRect">
            <a:avLst>
              <a:gd name="adj" fmla="val 80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8ACE3A-1AE9-4229-8974-814521B2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095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BC09EA-B162-4BB0-BA5C-53F0509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3590" y="2247900"/>
            <a:ext cx="17564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478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05  Μόνο τότε απελευθερώνονται ψηφιακά ακριβώς x ΔΡΑΧ.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CD78B6-E5EE-4A2B-8C8E-9A64DECC5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Σε περίπτωση αμφιβολίας η ψηφιακή αξία παραμένει δεσμευμένη: η ρευστότητα μπορεί να μπλοκαριστεί, η νομισματική μάζα δεν μπορεί να αυξηθεί.</a:t>
            </a:r>
          </a:p>
        </p:txBody>
      </p:sp>
    </p:spTree>
    <p:extLst>
      <p:ext uri="{BB962C8B-B14F-4D97-AF65-F5344CB8AC3E}">
        <p14:creationId xmlns:p14="http://schemas.microsoft.com/office/powerpoint/2010/main" val="33557683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9C9609-FD8C-47B4-9D64-02215213F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4C2EF9-EED7-47CC-B2BB-6911D0C5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ΜΕΤΡΗΤΑ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7618C9-6558-4E30-AF08-03A176EC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Το offline είναι περιορισμένο - όχι μαγικό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03B942-D0B0-4F9F-8F40-0CBBAF7FA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0f853ea0d5414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5BCDCE-00A9-4D2B-A979-5FAA0104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6390C5-7A3C-4DD2-99EB-459D75FD7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B2421B-8DC4-45B6-823F-DAAF626D9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D3BD38-1BBC-4B10-B439-B1661AEF9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9EAB01-77CB-477B-8AE6-4D1DD777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666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το πολύ 150 ΔΡΑΧ ανά συσκευή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33FB2F-9B20-4DDC-8863-9D78A4E8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B9275F-CD5E-41FD-BF24-CDBF83D5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1DF964-6CAD-407B-B7C2-C41F7262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213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6757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το πολύ 50 ΔΡΑΧ ανά πληρωμή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8B4E8C-78AF-4B42-8E61-0748F4FCA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2D44DD-FE69-4432-A6CC-152785AF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9E900B-E617-41BC-9467-DD2C7A6E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6074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το πολύ τρία hops εκτός σύνδεσης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BED6D7-2F98-4C4C-8EBD-3523F2BA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1885950"/>
            <a:ext cx="2614613" cy="40957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AA1CB2-2344-45F5-91EE-051534C6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1885950"/>
            <a:ext cx="6667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8A8E32-EDDA-490F-9998-C70FEF5F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7338" y="2038350"/>
            <a:ext cx="225266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561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συγχρονισμός το αργότερο εντός 72 ωρών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0B9811-C5C1-4753-8A75-7677129C2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ο έμπορος θεωρεί την είσπραξη εκτός σύνδεσης επισφαλή έως τον διακανονισμό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477A8B-065A-4035-9BDB-05CE2447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Τελικότητα εκτός σύνδεσης χωρίς εμπιστοσύνη και χωρίς όρια ρητώς δεν υπόσχεται.</a:t>
            </a:r>
          </a:p>
        </p:txBody>
      </p:sp>
    </p:spTree>
    <p:extLst>
      <p:ext uri="{BB962C8B-B14F-4D97-AF65-F5344CB8AC3E}">
        <p14:creationId xmlns:p14="http://schemas.microsoft.com/office/powerpoint/2010/main" val="2311871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B60E46-22F7-493C-97C0-CA130EFD5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0E288-A2B1-429E-84E6-7E3C2DA2B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OFFLINE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21025D-DC22-4A82-90AA-A7C2C17A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Το κράτος ξεκινά - και χάνει τα κλειδιά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271941-49D3-41E5-AA16-8B57BD319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09626b80f346f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1FEF17-9E43-41DA-872D-3E3948064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470033-E3FC-4962-A1F6-178931F87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8E2271-C809-4152-874F-EF8C9E16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9526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A839E4-6227-41A8-A8D0-3DB350C9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952625"/>
            <a:ext cx="533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69125B-B01A-4EF4-BC37-DFA22707A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2628900" cy="219075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4B0718-CD41-4856-96DD-F7D1880C9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EA9C57-F61C-499B-B1A4-44CB7A955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003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Ημέρα 0-90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00068E-762C-4F35-8A13-1005725F0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28975"/>
            <a:ext cx="22669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testnet/διορθώσεις σφαλμάτων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C74110-1484-4B1A-8E26-FAABF80B7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9526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49F238-02C4-4C9D-B422-0BEDF8E4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952625"/>
            <a:ext cx="533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0A27E1-B71A-494F-9DC0-B21EFC3D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647950"/>
            <a:ext cx="2628900" cy="219075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E3097B-DE50-4682-A9BC-0D091AF9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6479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1CCEDA-64BA-4729-B68D-209C7A216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003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Ημέρα 91-365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114062-99F8-41AA-8E88-F21B5C61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228975"/>
            <a:ext cx="22669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μόνο ασφάλεια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400F98-6796-4F30-BF49-B594A0D9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526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BD24C4-A344-4DFE-B473-93B88C385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52625"/>
            <a:ext cx="533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57DE34-91AC-4553-9F46-7CE5C1B8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47950"/>
            <a:ext cx="2628900" cy="219075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42865C-7776-40FE-A640-C9A270838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479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A5FE27-6359-43E3-9205-A34F32630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003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Μήνας 13-24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2C4F25-753E-462D-B116-2A8A35503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28975"/>
            <a:ext cx="22669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παράδοση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A76E48-1F81-4DBE-97F7-5E18EACD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9526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891BAA-2D43-4FF7-982E-F92337C00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952625"/>
            <a:ext cx="533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07B0A3-DC45-47D0-A385-C02BFB2EF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47950"/>
            <a:ext cx="2628900" cy="219075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BF8386-EAC3-4892-8053-EFE6F04C0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479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C003DE-00BB-4B8F-A0CD-A0D9FC07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8003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Sunset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446C15-DBD1-4529-95EA-9F88C708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28975"/>
            <a:ext cx="22669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Key Burn και δημόσια απόδειξη covenant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E35B05-82A2-44EC-B5BE-9A16EBB05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Τα Mmax, αδυναμία δέσμευσης και κάλυψη μετρητών δεν είναι πλέον ρυθμιζόμενα μετά από αυτό.</a:t>
            </a:r>
          </a:p>
        </p:txBody>
      </p:sp>
    </p:spTree>
    <p:extLst>
      <p:ext uri="{BB962C8B-B14F-4D97-AF65-F5344CB8AC3E}">
        <p14:creationId xmlns:p14="http://schemas.microsoft.com/office/powerpoint/2010/main" val="162923057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697D29-0CE6-4A21-B973-F5BBA72A0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3F70C2-CAF5-4C51-893F-C64AD396B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ΤΡΑΠΕΖΕΣ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A95895-C723-4377-B250-93F116A96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865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Οι τράπεζες φυλάσσουν πληρωμές - η πίστωση φέρει κίνδυνο διάρκειας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77F9F4-3F78-43DD-ACE3-D1F4FA10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93b4dda2f24ba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8485B7-625D-429F-8EA3-5024E6B99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E3D387-03D8-418C-A23A-E63BD61A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E75BF8-1B76-4C1B-AB3F-750E5A6D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5410200" cy="3333750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4476B7-0668-48EB-8EC5-8BDA5FDF0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666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F82D9B-F9DB-4362-932A-FF2115A87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Λογαριασμοί πληρωμών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707670-8E29-4E48-B365-205B9AA2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81275"/>
            <a:ext cx="504825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100 % αποθεματικό σε ΔΡΑΧ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ειδικό ταμείο απρόσβλητο σε πτώχευση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δημόσια βεβαίωση αποθεματικών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324B28-E092-4953-922A-93C0D896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5410200" cy="3333750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713CF2-1648-41D5-9B80-732599E4E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666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4F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960D6F-AF37-4B2B-9B96-C5B971EF9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52650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Πίστωση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A0CED5-078C-4347-A7D8-04F2D8A8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81275"/>
            <a:ext cx="504825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από προθεσμιακές καταθέσεις, ομόλογα, ίδια κεφάλαια και αμοιβαία κεφάλαια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κανένα δικαίωμα δημιουργίας χρήματος της τράπεζας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τις ζημίες φέρει το κεφάλαιο κινδύνου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225285-5815-45DA-8CCA-6A326C1D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Η κρίσιμη ρευστότητα πρέπει να είναι προχρηματοδοτημένη.</a:t>
            </a:r>
          </a:p>
        </p:txBody>
      </p:sp>
    </p:spTree>
    <p:extLst>
      <p:ext uri="{BB962C8B-B14F-4D97-AF65-F5344CB8AC3E}">
        <p14:creationId xmlns:p14="http://schemas.microsoft.com/office/powerpoint/2010/main" val="114085716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BB5605-DBCC-4C5F-A67D-6C840735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1E9499-7170-4DE3-A72E-1F5722B37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ΤΡΑΠΕΖΕΣ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7F36CF-0F76-4C15-B479-8C1107B2A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Η παγκόσμια οικονομική σημασία πρέπει να κερδηθεί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E55719-6E07-4B3E-A521-438523CE0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15a0eaffe9443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EDAC82-455A-430E-AF9F-683E0E39B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DFCFD0-9FFF-4BEA-B0BC-1D6D330F7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9EE795-FE85-49D4-B55C-D5214F5D4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946ADB-D30E-4A97-A38E-C51DB94DC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C0D093-6154-4868-BEA2-7660A2A8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Ναυτιλία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14A636-0806-4104-B643-EC960A28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66975"/>
            <a:ext cx="50387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Η Ελλάδα κατείχε αρχές 2025 το 16,4 % της παγκόσμιας χωρητικότητας στόλου.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509D18-50BF-4453-8355-7CB5F8B0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FD44D5-229F-4757-ACB9-58F1FC24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46A0E4-F67E-4C69-AE11-55A92C703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383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Τουρισμός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8242A0-0111-4A6D-A268-5F2E6FDFB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466975"/>
            <a:ext cx="50387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Ταξιδιωτικά έσοδα 2025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C07F4A-0322-4E23-90C1-79E3CB93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A0883-B161-424A-97A8-1C5F396E1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B59481-0FCB-43F9-8640-9FBE82E0B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Νησιά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AF45F9-28CA-4118-827E-67982B7F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00575"/>
            <a:ext cx="50387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Νάξος, Κάλυμνος και Σύρος προσφέρουν διαφορετικά προφίλ πιλότων.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11E064-FED1-434F-9970-DA6BC470F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FBEDA0-97C9-4CD9-8AAE-7A08C58E4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72940A-916C-44C8-AADD-6EAA56782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1719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Διασπορά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E15E45-45B9-4B25-94CC-EC2D3B8D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00575"/>
            <a:ext cx="50387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ελεύθερες, ρυθμιζόμενες on-/off-ramps αντί για επίσημο γκισέ EUR.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D8A956-D7D7-4D10-99BF-5592EF074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972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BTC, ETH και χρυσός μπορούν να βρίσκονται σε ξεχωριστό ταμείο ρευστότητας - ποτέ με δικαίωμα mint ή peg.</a:t>
            </a:r>
          </a:p>
        </p:txBody>
      </p:sp>
    </p:spTree>
    <p:extLst>
      <p:ext uri="{BB962C8B-B14F-4D97-AF65-F5344CB8AC3E}">
        <p14:creationId xmlns:p14="http://schemas.microsoft.com/office/powerpoint/2010/main" val="75356929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23C9BB-6F7E-4100-A39C-690DDED7B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8E8045-00D0-4638-9AAA-FF640F18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ΠΑΓΚΟΣΜΙΑ ΟΙΚΟΝΟΜΙΑ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197D65-0250-47C2-878A-FA4830A4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Δύο νομικές διαδρομές δεν πρέπει να συγχέονται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6D2722-C81B-4166-AD68-6C8546A50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e6443d30924f0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47FF90-1FF0-4B25-A7F0-AEE93D74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7067F5-E39E-43BB-B9CF-148B915AA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F6A3F0-5BC5-4C1F-B775-EAA598D90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5410200" cy="3333750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2F9444-D9BA-401F-9B1F-64DA67B41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666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699CB7-4A6D-467D-93BF-0442DEDBC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Ευρωζώνη / Φάση 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B9EE59-CA23-4FD9-897C-4297D16D6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81275"/>
            <a:ext cx="504825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έρευνα και testnet χωρίς αξία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καμία υποχρέωση αποδοχής ή φορολογικής ονομασίας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πορίσματα MiCA/AML/GDPR και αυτόματο sunset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F423D4-C155-41FF-B6C3-E02EC82E0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5410200" cy="3333750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EB76E6-7A6D-4BFE-AC9F-7CA037962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666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4F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87DD42-B9F5-4BD1-ACE2-EDFFA75D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52650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Πλήρης νομισματική κυριαρχία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B00BB3-5B56-448C-9ABC-D5A69A1E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81275"/>
            <a:ext cx="504825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νομισματικός νόμος, φορολογική ονομασία και νόμιμο μέσο πληρωμής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• μετατροπή τραπεζών, μετρητών και χρεών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E6DAC2-1EB7-442B-B3B1-A537C6F28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Ξεχωριστή θεμελιώδης απόφαση· καμία σύσταση εξόδου.</a:t>
            </a:r>
          </a:p>
        </p:txBody>
      </p:sp>
    </p:spTree>
    <p:extLst>
      <p:ext uri="{BB962C8B-B14F-4D97-AF65-F5344CB8AC3E}">
        <p14:creationId xmlns:p14="http://schemas.microsoft.com/office/powerpoint/2010/main" val="22151725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073186-9D20-49ED-B100-A0BA51E1E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757A2A-B637-45AB-BAC1-13A0A7B9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ΠΑΓΚΟΣΜΙΑ ΟΙΚΟΝΟΜΙΑ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5DCD35-405E-4094-A4E5-0104D4B91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97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Οι ισχυρότερες αντιρρήσεις παραμένουν στο μοντέλο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DD89BD-3E30-4E92-BF2B-ED2E58720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a311e7dd304bd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B0D8E6-C861-40EA-A5C8-2FB17132A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EDDE5A-6AA4-4FC5-B0B0-4020AF19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DD9CDE-B74A-48A4-88D4-48EF1920F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00444D-B662-479A-9F93-645412CD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F08079-472A-42CB-913B-E46D4FA16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Αποπληθωρισμός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92F00D-7723-4237-AB19-BAA990E05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669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η σταθερή ποσότητα μπορεί να αυξήσει το πραγματικό βάρος χρέους.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4F5118-1F95-465A-8220-4F9C0D122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859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53343F-5CD8-4C56-B339-BEDC991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5ED1DA-F905-49DB-AAD3-DD50729DD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383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Πιστωτική στενότητα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E8C251-A0FF-4936-B7CB-C2EEA10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669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το narrow banking ακριβαίνει τη χρηματοδότηση.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DC52F2-46FA-4599-A97D-24D9E7EE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859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4473EA-A373-43C9-92DE-516E5782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74101D-770D-46CE-9D22-05F289F83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383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Εξάρτηση από Kaspa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B0FCD8-C2F5-43ED-9E6E-95E4A545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669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ένα ξένο δίκτυο δεν είναι πλήρης αυτάρκεια.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184A61-4457-4B3C-B664-518484E6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3C2454-6EC8-471B-B05D-9285A403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3CEF5E-3BB1-49C3-9851-A51E2DAA8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Απάτη μετρητών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703F13-A8A7-4D64-9EF3-5F5E9377B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005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ο φυσικός βραχίονας παραμένει θεσμικός.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F8B831-B113-4250-893D-599D10A7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195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BAD56A-8437-4258-B1FE-658FC3BF7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3D9C79-A445-45FC-9426-4B649EAB3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1719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Double spend εκτός σύνδεσης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A88180-ABE5-49B6-BD85-8D60B60A3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6005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η ζημία περιορίζεται, δεν εξαλείφεται.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2C13FF-61BD-4295-B745-37C9DC76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19550"/>
            <a:ext cx="3543300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ACE591-2DC1-4A1B-9434-3F527182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4C5FFEC-6A5C-4FA4-9E69-7286F560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171950"/>
            <a:ext cx="318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Κρατική πίεση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37FF7C6-6E9A-4ABE-BF74-FB9C395C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600575"/>
            <a:ext cx="3181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η τεχνολογία αποτρέπει mint/freeze, όχι απαγορεύσεις ή αποκλεισμούς αγορών.</a:t>
            </a:r>
          </a:p>
        </p:txBody>
      </p:sp>
    </p:spTree>
    <p:extLst>
      <p:ext uri="{BB962C8B-B14F-4D97-AF65-F5344CB8AC3E}">
        <p14:creationId xmlns:p14="http://schemas.microsoft.com/office/powerpoint/2010/main" val="3172000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3BB5FB-3B4E-4709-91BC-3B1CFD45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60AFCF-2B28-4C89-8046-3925CF48E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ΚΙΝΔΥΝΟΙ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7C107A-6979-4E77-AC69-D5008988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Η Φάση 0 παραδίδει αποδείξεις αντί για αγοραία αξία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9F6EE5-E3C0-4A9B-83E2-81BD75A7E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69d5b29c29409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AA8FA-D7A7-476C-9AF0-70F3412FF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49E1D8-FC06-47DF-9CA5-EE6BE40A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62FA37-F2CD-44EE-A992-ED032CA3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9728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3FD346-F48A-4185-A50D-58CFC603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3357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0-3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4C0F78-F8E1-4F29-884D-A3AE40F46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933575"/>
            <a:ext cx="880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νομικά ζητήματα, αναλλοίωτα, περιβάλλον testnet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A11EF0-896B-46D0-89A7-38B1AFE0D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109728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D7B8A5-32E5-41C1-9C62-3470F81C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8127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4-6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B8AC87-5112-4A53-A384-5C9026DE5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81275"/>
            <a:ext cx="880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PoC Constitution/Bearer και supply indexer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5E2694-EB3E-4869-8AF7-0755268F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825BA4-88EF-4265-B704-F6E7B7DA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2897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7-9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E0C3A9-0B98-4BA5-98D9-B74164922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28975"/>
            <a:ext cx="880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CashLot, εργαστήριο offline, ενδιάμεση απόφαση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CF1C49-EB43-40F1-B2A4-57D4074B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109728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21E065-7DAC-4573-96FE-A45709F5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7667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10-12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C20083-A94C-4C37-9FB6-F8D034631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876675"/>
            <a:ext cx="880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προσομοίωση επίθεσης και δοκιμή μετανάστευσης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924642-0F49-4ECF-885C-AAFB64425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728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8A6248-4732-40A5-AD86-C300FE049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13-15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012E0B-7141-48F9-BDD2-7F90BA0A4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524375"/>
            <a:ext cx="880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ολοκληρωμένη επίδειξη χωρίς αξία και red team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E4F150-7520-424B-B94D-324B097E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CC082E-3B46-4DED-9A79-CE21E9DBF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72075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16-18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7C84DC-E46B-43EA-81FE-E312BC0B9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172075"/>
            <a:ext cx="880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τελικό πόρισμα: Go/No-Go/Research-Only</a:t>
            </a:r>
          </a:p>
        </p:txBody>
      </p:sp>
    </p:spTree>
    <p:extLst>
      <p:ext uri="{BB962C8B-B14F-4D97-AF65-F5344CB8AC3E}">
        <p14:creationId xmlns:p14="http://schemas.microsoft.com/office/powerpoint/2010/main" val="187764499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FBBB0D-FB62-4EE4-9010-86E2714B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6D590C-9C75-406E-A47A-E166D36F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ΚΙΝΔΥΝΟΙ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770085-89DB-49CB-B3B5-4FA8B9275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Ο προϋπολογισμός δεσμεύεται σε σκληρά κατώφλια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63D869-321E-47A1-98CF-818CB1E7B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aedb5d283a4d5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8908CA-7A7B-4F54-95BB-3DD931B4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9DFE8A-DBC3-4E35-ADAF-89643668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9398A2-A3DF-4D32-87EA-F9AE6FB1A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Συνολικός διάδρομος 0,95-1,65 εκατ. ευρώ · έγκριση με ανώτατο όριο 1,6 εκατ. ευρώ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2B4334-F5B7-4DE8-9707-27CAED4EA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716ADE-84D5-4BA3-AF77-05E95283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E31B8C-B0DA-443E-8DFA-5E973A428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Δίκαιο και μακροοικονομία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AD0669-520F-4B78-B1A0-577850A6B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66975"/>
            <a:ext cx="50387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260-420 χιλ. ευρώ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0B039-778A-444D-8B0B-6B8100C7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11A20D-B383-41E0-B052-04A856F6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859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746ACE-7236-40E9-B864-D75721CA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383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Covenant, wallet και indexer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A7A0A5-971D-4CE6-8F53-75444962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466975"/>
            <a:ext cx="50387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340-600 χιλ. ευρώ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F9E0BC-0E49-409C-A812-2CF32EDC7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38137D-81F7-41A9-B3EE-2C771DDF7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D18071-E26A-4C77-9AAD-ECF177D03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Offline και διαδικασία μετρητών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5CC2A-38F4-47AF-8BAA-AE63ED6F0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00575"/>
            <a:ext cx="50387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170-310 χιλ. ευρώ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349A2A-919B-4D46-8A7C-29FC80467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5400675" cy="1962150"/>
          </a:xfrm>
          <a:prstGeom xmlns:a="http://schemas.openxmlformats.org/drawingml/2006/main" prst="roundRect">
            <a:avLst>
              <a:gd name="adj" fmla="val 8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5C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2EE2A9-C217-4C05-B4D6-58A9A6A3D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19550"/>
            <a:ext cx="66675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961C5C-3DF9-49C0-B2A0-633690462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171950"/>
            <a:ext cx="50387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Έλεγχοι, bug bounty και διαχείριση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D4C69B-3366-4D20-B086-AF03A854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00575"/>
            <a:ext cx="50387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180-320 χιλ. ευρώ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C8F4C4-AE1E-432F-B007-B8D0937F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740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Διακοπή: ασαφής νομική βάση, μη αποδείξιμο αναλλοίωτο Mmax, άωρη αλυσίδα εργαλείων, μη βιώσιμος κίνδυνος offline/CashLot ή παρακάμψιμο sunset.</a:t>
            </a:r>
          </a:p>
        </p:txBody>
      </p:sp>
    </p:spTree>
    <p:extLst>
      <p:ext uri="{BB962C8B-B14F-4D97-AF65-F5344CB8AC3E}">
        <p14:creationId xmlns:p14="http://schemas.microsoft.com/office/powerpoint/2010/main" val="84950879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3594EF-2D4A-485B-A399-4B176785F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60445D-F2EA-47F2-98CC-BCCAB996A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1B4F7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B4F78"/>
                </a:solidFill>
                <a:latin typeface="Aptos"/>
                <a:ea typeface="Aptos"/>
                <a:cs typeface="Aptos"/>
              </a:rPr>
              <a:t>ΦΑΣΗ 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9E3284-36BE-4BC2-B890-342BB0393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71426"/>
                </a:solidFill>
                <a:latin typeface="Aptos Display"/>
                <a:ea typeface="Aptos Display"/>
                <a:cs typeface="Aptos Display"/>
              </a:rPr>
              <a:t>Η ζητούμενη απόφαση είναι συνειδητά μικρή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FED922-BCF1-4C91-BCA4-294A611A3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466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7ba79171ba48c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58550" y="285750"/>
            <a:ext cx="495300" cy="495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1A326A-6627-44D5-9218-F29583587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24600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BC491B-7A2C-49B2-80CD-253FCEA3B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DRX · ΔΡΑΧ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D56432-49E6-4CC4-BAD2-E84410E99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C9EB69-E816-4F1A-9B24-163F03F91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7073DA-C03C-48C0-9B95-78C93D15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76425"/>
            <a:ext cx="1034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033"/>
                </a:solidFill>
                <a:latin typeface="Aptos"/>
                <a:ea typeface="Aptos"/>
                <a:cs typeface="Aptos"/>
              </a:rPr>
              <a:t>Ερευνητικό πρόγραμμα Φάσης 0 για το πολύ 18 μήνες.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433AD0-D4D9-427A-9D21-B1BC60079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170172-6548-4C51-B56C-1DF4EFE97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89CADB-86C3-480E-A381-934AAA2D2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24125"/>
            <a:ext cx="1034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Ανώτατο όριο χρηματοδότησης 1,6 εκατ. ευρώ.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A934BB-FFEE-493D-BDBF-B5EBEF00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90C2E3-9E2B-4201-956C-300BF22F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021C76-31E8-4D40-8E89-05FD4CBD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71825"/>
            <a:ext cx="1034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Μόνο testnet, προσομοίωση, νομικά πορίσματα και ανοικτό λογισμικό αναφοράς.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27C421-A9D1-4A31-B053-2999DBB1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E6718C-A96B-42EF-B7AC-DF9BA744A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F0F671-7B1A-45F2-A975-BE195551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9525"/>
            <a:ext cx="1034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Ενδιάμεση απόφαση μετά από εννέα μήνες.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F8D455-9FA5-48B5-9C86-428566358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635F65-4533-4F72-BE45-65FD5E5F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714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42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B8857B-A9A7-4365-A5FD-B5822E8E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67225"/>
            <a:ext cx="1034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420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033"/>
                </a:solidFill>
                <a:latin typeface="Aptos"/>
                <a:ea typeface="Aptos"/>
                <a:cs typeface="Aptos"/>
              </a:rPr>
              <a:t>Αυτόματη λήξη ελλείψει ειδικής απόφασης συνέχισης.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0355F4-EDA0-45FB-9342-7942190E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57150" rIns="762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Επιτυχία σημαίνει αξιόπιστη κρατική απόφαση - όχι τιμή token ή κεφαλαιοποίηση αγοράς.</a:t>
            </a:r>
          </a:p>
        </p:txBody>
      </p:sp>
    </p:spTree>
    <p:extLst>
      <p:ext uri="{BB962C8B-B14F-4D97-AF65-F5344CB8AC3E}">
        <p14:creationId xmlns:p14="http://schemas.microsoft.com/office/powerpoint/2010/main" val="13868662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2026-09-01T14:43:21.9550000Z</dcterms:created>
  <dcterms:modified xsi:type="dcterms:W3CDTF">2026-09-01T14:43:21.9550000Z</dcterms:modified>
</coreProperties>
</file>