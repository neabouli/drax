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package/2006/relationships/metadata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[Sources] - Vollständiges ΔΡΑΧ Whitepaper, Kapitel 0, 11 und 12.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</a:t>
            </a:fld>
            <a:endParaRPr lang="en-US"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[Sources] - Vollständiges ΔΡΑΧ Whitepaper, Kapitel 2, 4 und 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3</a:t>
            </a:fld>
            <a:endParaRPr lang="en-US"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[Sources] - Vollständiges ΔΡΑΧ Whitepaper, Kapitel 2.2 und Anhang 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4</a:t>
            </a:fld>
            <a:endParaRPr lang="en-US"/>
          </a:p>
        </p:txBody>
      </p:sp>
    </p:spTree>
  </p:cSld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[Sources] - https://docs.kaspa.org/toccata - https://docs.kaspa.org/toccata/agent-brief - https://github.com/kaspanet/silverscript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5</a:t>
            </a:fld>
            <a:endParaRPr lang="en-US"/>
          </a:p>
        </p:txBody>
      </p:sp>
    </p:spTree>
  </p:cSld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[Sources] - Vollständiges ΔΡΑΧ Whitepaper, Kapitel 3. - https://docs.kaspa.org/toccata/agent-brief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6</a:t>
            </a:fld>
            <a:endParaRPr lang="en-US"/>
          </a:p>
        </p:txBody>
      </p:sp>
    </p:spTree>
  </p:cSld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[Sources] - Vollständiges ΔΡΑΧ Whitepaper, Kapitel 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7</a:t>
            </a:fld>
            <a:endParaRPr lang="en-US"/>
          </a:p>
        </p:txBody>
      </p:sp>
    </p:spTree>
  </p:cSld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[Sources] - Vollständiges ΔΡΑΧ Whitepaper, Kapitel 5. - https://www.ecb.europa.eu/euro/digital_euro/pilot/html/ecb.faq-digital-euro-pilot.de.html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8</a:t>
            </a:fld>
            <a:endParaRPr lang="en-US"/>
          </a:p>
        </p:txBody>
      </p:sp>
    </p:spTree>
  </p:cSld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[Sources] - Vollständiges ΔΡΑΧ Whitepaper, Kapitel 7. - Methodische Referenz: zeitlich auslaufende Notfallrechte aus dem 1kUSD-Projekt.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9</a:t>
            </a:fld>
            <a:endParaRPr lang="en-US"/>
          </a:p>
        </p:txBody>
      </p:sp>
    </p:spTree>
  </p:cSld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[Sources] - Vollständiges ΔΡΑΧ Whitepaper, Kapitel 6. - https://www.elibrary.imf.org/view/journals/007/1999/009/article-A004-en.xml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10</a:t>
            </a:fld>
            <a:endParaRPr lang="en-US"/>
          </a:p>
        </p:txBody>
      </p:sp>
    </p:spTree>
  </p:cSld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[Sources] - https://unctad.org/system/files/official-document/rmt2025overview_en.pdf - https://www.bankofgreece.gr/en/news-and-media/press-office/news-list/news?announcement=27a32287-1c58-44e7-b900-2c92c53ffe9c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11</a:t>
            </a:fld>
            <a:endParaRPr lang="en-US"/>
          </a:p>
        </p:txBody>
      </p:sp>
    </p:spTree>
  </p:cSld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[Sources] - https://eur-lex.europa.eu/eli/treaty/tfeu_2012/art_128/oj/deu - https://eur-lex.europa.eu/eli/reg/1998/974/oj - https://eur-lex.europa.eu/eli/reg/2023/1114/oj - https://www.bankofgreece.gr/en/main-tasks/supervision/regulation-eu-2023_1114-on-markets-in-crypto-assets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12</a:t>
            </a:fld>
            <a:endParaRPr lang="en-US"/>
          </a:p>
        </p:txBody>
      </p:sp>
    </p:spTree>
  </p:cSld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[Sources] - Vollständiges ΔΡΑΧ Whitepaper, Kapitel 1.3, 6, 10 und 17. - https://www.bis.org/publications/aer-2025/next-generation-monetary-financial-system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13</a:t>
            </a:fld>
            <a:endParaRPr lang="en-US"/>
          </a:p>
        </p:txBody>
      </p:sp>
    </p:spTree>
  </p:cSld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[Sources] - Vollständiges ΔΡΑΧ Whitepaper, Kapitel 11.3.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14</a:t>
            </a:fld>
            <a:endParaRPr lang="en-US"/>
          </a:p>
        </p:txBody>
      </p:sp>
    </p:spTree>
  </p:cSld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[Sources] - Vollständiges ΔΡΑΧ Whitepaper, Kapitel 11.1 und 11.4.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15</a:t>
            </a:fld>
            <a:endParaRPr lang="en-US"/>
          </a:p>
        </p:txBody>
      </p:sp>
    </p:spTree>
  </p:cSld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[Sources] - Vollständiges ΔΡΑΧ Whitepaper, Kapitel 12.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16</a:t>
            </a:fld>
            <a:endParaRPr lang="en-US"/>
          </a:p>
        </p:txBody>
      </p:sp>
    </p:spTree>
  </p:cSld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58368" y="1115568"/>
            <a:ext cx="5532120" cy="914400"/>
          </a:xfrm>
        </p:spPr>
        <p:txBody>
          <a:bodyPr/>
          <a:lstStyle/>
          <a:p>
            <a:pPr lvl="0" indent="0" marL="0">
              <a:buNone/>
            </a:pPr>
            <a:r>
              <a:rPr sz="3000" b="1">
                <a:solidFill>
                  <a:srgbClr val="FFFFFF"/>
                </a:solidFill>
                <a:latin typeface="Aptos Display"/>
              </a:rPr>
              <a:t>dig Δραχμή (ΔΡΑΧ)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694944" y="2212848"/>
            <a:ext cx="5349240" cy="1051560"/>
          </a:xfrm>
        </p:spPr>
        <p:txBody>
          <a:bodyPr/>
          <a:lstStyle/>
          <a:p>
            <a:pPr lvl="0" indent="0" marL="0">
              <a:buNone/>
            </a:pPr>
            <a:r>
              <a:rPr sz="1700">
                <a:solidFill>
                  <a:srgbClr val="D5E1EB"/>
                </a:solidFill>
                <a:latin typeface="Aptos"/>
              </a:rPr>
              <a:t>Machbarkeitsstudie für eine harte digitale und physische Rechnungseinheit</a:t>
            </a:r>
            <a:br/>
            <a:br/>
            <a:r>
              <a:rPr sz="1700">
                <a:solidFill>
                  <a:srgbClr val="D5E1EB"/>
                </a:solidFill>
                <a:latin typeface="Aptos"/>
              </a:rPr>
              <a:t>Vendetta Labs · Gio (Kaspartizan)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>
          <a:xfrm>
            <a:off x="704088" y="4416552"/>
            <a:ext cx="5303520" cy="365760"/>
          </a:xfrm>
        </p:spPr>
        <p:txBody>
          <a:bodyPr/>
          <a:lstStyle/>
          <a:p>
            <a:pPr lvl="0" indent="0" marL="0">
              <a:buNone/>
            </a:pPr>
            <a:r>
              <a:rPr sz="950" b="1">
                <a:solidFill>
                  <a:srgbClr val="C8D8E4"/>
                </a:solidFill>
                <a:latin typeface="Aptos"/>
              </a:rPr>
              <a:t>Öffentliche Forschungsfassung · 1. September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DAA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720840" y="91440"/>
            <a:ext cx="2423160" cy="5052060"/>
          </a:xfrm>
          <a:prstGeom prst="rect">
            <a:avLst/>
          </a:prstGeom>
          <a:solidFill>
            <a:srgbClr val="185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882127" y="91440"/>
            <a:ext cx="1261872" cy="5052060"/>
          </a:xfrm>
          <a:prstGeom prst="rect">
            <a:avLst/>
          </a:prstGeom>
          <a:solidFill>
            <a:srgbClr val="199D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92240" y="3493008"/>
            <a:ext cx="2651760" cy="109728"/>
          </a:xfrm>
          <a:prstGeom prst="rect">
            <a:avLst/>
          </a:prstGeom>
          <a:solidFill>
            <a:srgbClr val="DAA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22592" y="1060704"/>
            <a:ext cx="17830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900" b="1">
                <a:solidFill>
                  <a:srgbClr val="FFFFFF"/>
                </a:solidFill>
                <a:latin typeface="Aptos"/>
              </a:rPr>
              <a:t>ΔΡΑΧ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1993392"/>
            <a:ext cx="2121408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DIGITAL</a:t>
            </a:r>
            <a:br/>
            <a:r>
              <a:rPr sz="1100" b="1">
                <a:solidFill>
                  <a:srgbClr val="FFFFFF"/>
                </a:solidFill>
                <a:latin typeface="Aptos"/>
              </a:rPr>
              <a:t>OFFLINE</a:t>
            </a:r>
            <a:br/>
            <a:r>
              <a:rPr sz="1100" b="1">
                <a:solidFill>
                  <a:srgbClr val="FFFFFF"/>
                </a:solidFill>
                <a:latin typeface="Aptos"/>
              </a:rPr>
              <a:t>PAPIER · METALL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3232" y="402336"/>
            <a:ext cx="7818120" cy="576072"/>
          </a:xfrm>
        </p:spPr>
        <p:txBody>
          <a:bodyPr lIns="0" rIns="0">
            <a:normAutofit/>
          </a:bodyPr>
          <a:lstStyle/>
          <a:p>
            <a:pPr lvl="0" indent="0" marL="0">
              <a:spcAft>
                <a:spcPts val="0"/>
              </a:spcAft>
              <a:buNone/>
            </a:pPr>
            <a:r>
              <a:rPr sz="2400" b="1">
                <a:solidFill>
                  <a:srgbClr val="0B1F33"/>
                </a:solidFill>
                <a:latin typeface="Aptos Display"/>
              </a:rPr>
              <a:t>Beantragt wird Forschung - keine Währungseinführung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49808" y="1298448"/>
            <a:ext cx="7955279" cy="3328416"/>
          </a:xfrm>
        </p:spPr>
        <p:txBody>
          <a:bodyPr lIns="36576" rIns="36576" tIns="18288" bIns="18288" anchor="t">
            <a:normAutofit/>
          </a:bodyPr>
          <a:lstStyle/>
          <a:p>
            <a:pPr lvl="0" indent="0" marL="0">
              <a:lnSpc>
                <a:spcPct val="103000"/>
              </a:lnSpc>
              <a:spcAft>
                <a:spcPts val="600"/>
              </a:spcAft>
              <a:buNone/>
            </a:pPr>
            <a:r>
              <a:rPr b="1" sz="1800">
                <a:solidFill>
                  <a:srgbClr val="1D2A37"/>
                </a:solidFill>
                <a:latin typeface="Aptos"/>
              </a:rPr>
              <a:t>Phase 0 · 12-18 Monate · maximal 1,6 Mio. Euro</a:t>
            </a:r>
          </a:p>
          <a:p>
            <a:pPr lvl="0">
              <a:lnSpc>
                <a:spcPct val="103000"/>
              </a:lnSpc>
              <a:spcAft>
                <a:spcPts val="600"/>
              </a:spcAft>
            </a:pPr>
            <a:r>
              <a:rPr sz="1800">
                <a:solidFill>
                  <a:srgbClr val="1D2A37"/>
                </a:solidFill>
                <a:latin typeface="Aptos"/>
              </a:rPr>
              <a:t>Rechtsgutachten und makroökonomische Simulation</a:t>
            </a:r>
          </a:p>
          <a:p>
            <a:pPr lvl="0">
              <a:lnSpc>
                <a:spcPct val="103000"/>
              </a:lnSpc>
              <a:spcAft>
                <a:spcPts val="600"/>
              </a:spcAft>
            </a:pPr>
            <a:r>
              <a:rPr sz="1800">
                <a:solidFill>
                  <a:srgbClr val="1D2A37"/>
                </a:solidFill>
                <a:latin typeface="Aptos"/>
              </a:rPr>
              <a:t>wertloser Kaspa-Toccata-Testnet-Prototyp</a:t>
            </a:r>
          </a:p>
          <a:p>
            <a:pPr lvl="0">
              <a:lnSpc>
                <a:spcPct val="103000"/>
              </a:lnSpc>
              <a:spcAft>
                <a:spcPts val="600"/>
              </a:spcAft>
            </a:pPr>
            <a:r>
              <a:rPr sz="1800">
                <a:solidFill>
                  <a:srgbClr val="1D2A37"/>
                </a:solidFill>
                <a:latin typeface="Aptos"/>
              </a:rPr>
              <a:t>CashLot- und Offline-Labortests</a:t>
            </a:r>
          </a:p>
          <a:p>
            <a:pPr lvl="0">
              <a:lnSpc>
                <a:spcPct val="103000"/>
              </a:lnSpc>
              <a:spcAft>
                <a:spcPts val="600"/>
              </a:spcAft>
            </a:pPr>
            <a:r>
              <a:rPr sz="1800">
                <a:solidFill>
                  <a:srgbClr val="1D2A37"/>
                </a:solidFill>
                <a:latin typeface="Aptos"/>
              </a:rPr>
              <a:t>automatischer Sunset ohne neuen Beschluss</a:t>
            </a:r>
          </a:p>
          <a:p>
            <a:pPr lvl="0" indent="0" marL="0">
              <a:lnSpc>
                <a:spcPct val="103000"/>
              </a:lnSpc>
              <a:spcAft>
                <a:spcPts val="600"/>
              </a:spcAft>
              <a:buNone/>
            </a:pPr>
            <a:r>
              <a:rPr b="1" sz="1800">
                <a:solidFill>
                  <a:srgbClr val="1D2A37"/>
                </a:solidFill>
                <a:latin typeface="Aptos"/>
              </a:rPr>
              <a:t>Nicht beantragt:</a:t>
            </a:r>
            <a:r>
              <a:rPr sz="1800">
                <a:solidFill>
                  <a:srgbClr val="1D2A37"/>
                </a:solidFill>
                <a:latin typeface="Aptos"/>
              </a:rPr>
              <a:t> Mainnet-Wert, Banknoten mit Nennwert, Steuerannahme, Legal Tender oder Grexit-Entscheidung.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185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8872" y="0"/>
            <a:ext cx="36576" cy="5143500"/>
          </a:xfrm>
          <a:prstGeom prst="rect">
            <a:avLst/>
          </a:prstGeom>
          <a:solidFill>
            <a:srgbClr val="199D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1060704"/>
            <a:ext cx="1234440" cy="41148"/>
          </a:xfrm>
          <a:prstGeom prst="rect">
            <a:avLst/>
          </a:prstGeom>
          <a:solidFill>
            <a:srgbClr val="DAA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4800600"/>
            <a:ext cx="71323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19" b="1">
                <a:solidFill>
                  <a:srgbClr val="5B6C7C"/>
                </a:solidFill>
                <a:latin typeface="Aptos"/>
              </a:rPr>
              <a:t>ΔΡΑΧ  ·  MANDAT &amp; GELDVERFASSUNG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94192" y="4754880"/>
            <a:ext cx="320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185C9A"/>
                </a:solidFill>
                <a:latin typeface="Aptos"/>
              </a:rPr>
              <a:t>02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3232" y="402336"/>
            <a:ext cx="7818120" cy="576072"/>
          </a:xfrm>
        </p:spPr>
        <p:txBody>
          <a:bodyPr lIns="0" rIns="0">
            <a:normAutofit/>
          </a:bodyPr>
          <a:lstStyle/>
          <a:p>
            <a:pPr lvl="0" indent="0" marL="0">
              <a:spcAft>
                <a:spcPts val="0"/>
              </a:spcAft>
              <a:buNone/>
            </a:pPr>
            <a:r>
              <a:rPr sz="2400" b="1">
                <a:solidFill>
                  <a:srgbClr val="0B1F33"/>
                </a:solidFill>
                <a:latin typeface="Aptos Display"/>
              </a:rPr>
              <a:t>Eine Einheit - vier Trägerformen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49808" y="1298448"/>
            <a:ext cx="7955279" cy="3328416"/>
          </a:xfrm>
        </p:spPr>
        <p:txBody>
          <a:bodyPr lIns="36576" rIns="36576" tIns="18288" bIns="18288" anchor="t">
            <a:normAutofit/>
          </a:bodyPr>
          <a:lstStyle/>
          <a:p>
            <a:pPr lvl="0" indent="0" marL="0">
              <a:lnSpc>
                <a:spcPct val="103000"/>
              </a:lnSpc>
              <a:spcAft>
                <a:spcPts val="600"/>
              </a:spcAft>
              <a:buNone/>
            </a:pPr>
            <a:r>
              <a:rPr b="1" sz="1800">
                <a:solidFill>
                  <a:srgbClr val="1D2A37"/>
                </a:solidFill>
                <a:latin typeface="Aptos"/>
              </a:rPr>
              <a:t>ΔΡΑΧ ist keine CBDC und kein Stablecoin.</a:t>
            </a:r>
          </a:p>
          <a:p>
            <a:pPr lvl="0">
              <a:lnSpc>
                <a:spcPct val="103000"/>
              </a:lnSpc>
              <a:spcAft>
                <a:spcPts val="600"/>
              </a:spcAft>
            </a:pPr>
            <a:r>
              <a:rPr sz="1800">
                <a:solidFill>
                  <a:srgbClr val="1D2A37"/>
                </a:solidFill>
                <a:latin typeface="Aptos"/>
              </a:rPr>
              <a:t>digitaler Bearer Value in Self-Custody</a:t>
            </a:r>
          </a:p>
          <a:p>
            <a:pPr lvl="0">
              <a:lnSpc>
                <a:spcPct val="103000"/>
              </a:lnSpc>
              <a:spcAft>
                <a:spcPts val="600"/>
              </a:spcAft>
            </a:pPr>
            <a:r>
              <a:rPr sz="1800">
                <a:solidFill>
                  <a:srgbClr val="1D2A37"/>
                </a:solidFill>
                <a:latin typeface="Aptos"/>
              </a:rPr>
              <a:t>vorfinanzierter Offline-Wert</a:t>
            </a:r>
          </a:p>
          <a:p>
            <a:pPr lvl="0">
              <a:lnSpc>
                <a:spcPct val="103000"/>
              </a:lnSpc>
              <a:spcAft>
                <a:spcPts val="600"/>
              </a:spcAft>
            </a:pPr>
            <a:r>
              <a:rPr sz="1800">
                <a:solidFill>
                  <a:srgbClr val="1D2A37"/>
                </a:solidFill>
                <a:latin typeface="Aptos"/>
              </a:rPr>
              <a:t>Banknoten</a:t>
            </a:r>
          </a:p>
          <a:p>
            <a:pPr lvl="0">
              <a:lnSpc>
                <a:spcPct val="103000"/>
              </a:lnSpc>
              <a:spcAft>
                <a:spcPts val="600"/>
              </a:spcAft>
            </a:pPr>
            <a:r>
              <a:rPr sz="1800">
                <a:solidFill>
                  <a:srgbClr val="1D2A37"/>
                </a:solidFill>
                <a:latin typeface="Aptos"/>
              </a:rPr>
              <a:t>Münzen</a:t>
            </a:r>
          </a:p>
          <a:p>
            <a:pPr lvl="0" indent="0" marL="0">
              <a:lnSpc>
                <a:spcPct val="103000"/>
              </a:lnSpc>
              <a:spcAft>
                <a:spcPts val="600"/>
              </a:spcAft>
              <a:buNone/>
            </a:pPr>
            <a:r>
              <a:rPr sz="1800">
                <a:solidFill>
                  <a:srgbClr val="1D2A37"/>
                </a:solidFill>
                <a:latin typeface="Aptos"/>
              </a:rPr>
              <a:t>Alle Formen teilen dieselbe Geldmenge. Physisches Geld entsteht nur gegen gleich hohen digitalen Lock.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185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8872" y="0"/>
            <a:ext cx="36576" cy="5143500"/>
          </a:xfrm>
          <a:prstGeom prst="rect">
            <a:avLst/>
          </a:prstGeom>
          <a:solidFill>
            <a:srgbClr val="199D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1060704"/>
            <a:ext cx="1234440" cy="41148"/>
          </a:xfrm>
          <a:prstGeom prst="rect">
            <a:avLst/>
          </a:prstGeom>
          <a:solidFill>
            <a:srgbClr val="DAA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4800600"/>
            <a:ext cx="71323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19" b="1">
                <a:solidFill>
                  <a:srgbClr val="5B6C7C"/>
                </a:solidFill>
                <a:latin typeface="Aptos"/>
              </a:rPr>
              <a:t>ΔΡΑΧ  ·  MANDAT &amp; GELDVERFASSUNG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94192" y="4754880"/>
            <a:ext cx="320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185C9A"/>
                </a:solidFill>
                <a:latin typeface="Aptos"/>
              </a:rPr>
              <a:t>03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3232" y="402336"/>
            <a:ext cx="7818120" cy="576072"/>
          </a:xfrm>
        </p:spPr>
        <p:txBody>
          <a:bodyPr lIns="0" rIns="0">
            <a:normAutofit/>
          </a:bodyPr>
          <a:lstStyle/>
          <a:p>
            <a:pPr lvl="0" indent="0" marL="0">
              <a:spcAft>
                <a:spcPts val="0"/>
              </a:spcAft>
              <a:buNone/>
            </a:pPr>
            <a:r>
              <a:rPr sz="2400" b="1">
                <a:solidFill>
                  <a:srgbClr val="0B1F33"/>
                </a:solidFill>
                <a:latin typeface="Aptos Display"/>
              </a:rPr>
              <a:t>Die Verfassung passt in eine Gleichung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49808" y="1298448"/>
            <a:ext cx="7955279" cy="3328416"/>
          </a:xfrm>
        </p:spPr>
        <p:txBody>
          <a:bodyPr lIns="36576" rIns="36576" tIns="18288" bIns="18288" anchor="t">
            <a:normAutofit/>
          </a:bodyPr>
          <a:lstStyle/>
          <a:p>
            <a:pPr lvl="0" indent="0" marL="0">
              <a:lnSpc>
                <a:spcPct val="103000"/>
              </a:lnSpc>
              <a:spcBef>
                <a:spcPts val="3000"/>
              </a:spcBef>
              <a:spcAft>
                <a:spcPts val="600"/>
              </a:spcAft>
              <a:buNone/>
            </a:pPr>
            <a:r>
              <a:rPr b="1" sz="1800">
                <a:solidFill>
                  <a:srgbClr val="1D2A37"/>
                </a:solidFill>
                <a:latin typeface="Aptos"/>
              </a:rPr>
              <a:t>S = D + P + O + E ≤ Mmax</a:t>
            </a:r>
          </a:p>
          <a:p>
            <a:pPr lvl="0">
              <a:lnSpc>
                <a:spcPct val="103000"/>
              </a:lnSpc>
              <a:spcAft>
                <a:spcPts val="600"/>
              </a:spcAft>
            </a:pPr>
            <a:r>
              <a:rPr b="1" sz="1800">
                <a:solidFill>
                  <a:srgbClr val="1D2A37"/>
                </a:solidFill>
                <a:latin typeface="Aptos"/>
              </a:rPr>
              <a:t>D</a:t>
            </a:r>
            <a:r>
              <a:rPr sz="1800">
                <a:solidFill>
                  <a:srgbClr val="1D2A37"/>
                </a:solidFill>
                <a:latin typeface="Aptos"/>
              </a:rPr>
              <a:t> · digital frei umlaufend</a:t>
            </a:r>
          </a:p>
          <a:p>
            <a:pPr lvl="0">
              <a:lnSpc>
                <a:spcPct val="103000"/>
              </a:lnSpc>
              <a:spcAft>
                <a:spcPts val="600"/>
              </a:spcAft>
            </a:pPr>
            <a:r>
              <a:rPr b="1" sz="1800">
                <a:solidFill>
                  <a:srgbClr val="1D2A37"/>
                </a:solidFill>
                <a:latin typeface="Aptos"/>
              </a:rPr>
              <a:t>P</a:t>
            </a:r>
            <a:r>
              <a:rPr sz="1800">
                <a:solidFill>
                  <a:srgbClr val="1D2A37"/>
                </a:solidFill>
                <a:latin typeface="Aptos"/>
              </a:rPr>
              <a:t> · für Papier und Metall gesperrt</a:t>
            </a:r>
          </a:p>
          <a:p>
            <a:pPr lvl="0">
              <a:lnSpc>
                <a:spcPct val="103000"/>
              </a:lnSpc>
              <a:spcAft>
                <a:spcPts val="600"/>
              </a:spcAft>
            </a:pPr>
            <a:r>
              <a:rPr b="1" sz="1800">
                <a:solidFill>
                  <a:srgbClr val="1D2A37"/>
                </a:solidFill>
                <a:latin typeface="Aptos"/>
              </a:rPr>
              <a:t>O</a:t>
            </a:r>
            <a:r>
              <a:rPr sz="1800">
                <a:solidFill>
                  <a:srgbClr val="1D2A37"/>
                </a:solidFill>
                <a:latin typeface="Aptos"/>
              </a:rPr>
              <a:t> · für Offline-Zahlung gesperrt</a:t>
            </a:r>
          </a:p>
          <a:p>
            <a:pPr lvl="0">
              <a:lnSpc>
                <a:spcPct val="103000"/>
              </a:lnSpc>
              <a:spcAft>
                <a:spcPts val="600"/>
              </a:spcAft>
            </a:pPr>
            <a:r>
              <a:rPr b="1" sz="1800">
                <a:solidFill>
                  <a:srgbClr val="1D2A37"/>
                </a:solidFill>
                <a:latin typeface="Aptos"/>
              </a:rPr>
              <a:t>E</a:t>
            </a:r>
            <a:r>
              <a:rPr sz="1800">
                <a:solidFill>
                  <a:srgbClr val="1D2A37"/>
                </a:solidFill>
                <a:latin typeface="Aptos"/>
              </a:rPr>
              <a:t> · eng definierte Sonderzustände</a:t>
            </a:r>
          </a:p>
          <a:p>
            <a:pPr lvl="0" indent="0" marL="0">
              <a:lnSpc>
                <a:spcPct val="103000"/>
              </a:lnSpc>
              <a:spcAft>
                <a:spcPts val="600"/>
              </a:spcAft>
              <a:buNone/>
            </a:pPr>
            <a:r>
              <a:rPr sz="1800">
                <a:solidFill>
                  <a:srgbClr val="1D2A37"/>
                </a:solidFill>
                <a:latin typeface="Aptos"/>
              </a:rPr>
              <a:t>Formwechsel verändern S nicht. </a:t>
            </a:r>
            <a:r>
              <a:rPr b="1" sz="1800">
                <a:solidFill>
                  <a:srgbClr val="1D2A37"/>
                </a:solidFill>
                <a:latin typeface="Aptos"/>
              </a:rPr>
              <a:t>Kein Notfall-Mint.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185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8872" y="0"/>
            <a:ext cx="36576" cy="5143500"/>
          </a:xfrm>
          <a:prstGeom prst="rect">
            <a:avLst/>
          </a:prstGeom>
          <a:solidFill>
            <a:srgbClr val="199D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1060704"/>
            <a:ext cx="1234440" cy="41148"/>
          </a:xfrm>
          <a:prstGeom prst="rect">
            <a:avLst/>
          </a:prstGeom>
          <a:solidFill>
            <a:srgbClr val="DAA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4800600"/>
            <a:ext cx="71323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19" b="1">
                <a:solidFill>
                  <a:srgbClr val="5B6C7C"/>
                </a:solidFill>
                <a:latin typeface="Aptos"/>
              </a:rPr>
              <a:t>ΔΡΑΧ  ·  MANDAT &amp; GELDVERFASSUNG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94192" y="4754880"/>
            <a:ext cx="320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185C9A"/>
                </a:solidFill>
                <a:latin typeface="Aptos"/>
              </a:rPr>
              <a:t>04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3232" y="402336"/>
            <a:ext cx="7818120" cy="576072"/>
          </a:xfrm>
        </p:spPr>
        <p:txBody>
          <a:bodyPr lIns="0" rIns="0">
            <a:normAutofit/>
          </a:bodyPr>
          <a:lstStyle/>
          <a:p>
            <a:pPr lvl="0" indent="0" marL="0">
              <a:spcAft>
                <a:spcPts val="0"/>
              </a:spcAft>
              <a:buNone/>
            </a:pPr>
            <a:r>
              <a:rPr sz="2400" b="1">
                <a:solidFill>
                  <a:srgbClr val="0B1F33"/>
                </a:solidFill>
                <a:latin typeface="Aptos Display"/>
              </a:rPr>
              <a:t>Kaspa Toccata passt zum Bearer-Modell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49808" y="1298448"/>
            <a:ext cx="7955279" cy="3328416"/>
          </a:xfrm>
        </p:spPr>
        <p:txBody>
          <a:bodyPr lIns="36576" rIns="36576" tIns="18288" bIns="18288" anchor="t">
            <a:normAutofit/>
          </a:bodyPr>
          <a:lstStyle/>
          <a:p>
            <a:pPr lvl="0">
              <a:lnSpc>
                <a:spcPct val="103000"/>
              </a:lnSpc>
              <a:spcAft>
                <a:spcPts val="600"/>
              </a:spcAft>
            </a:pPr>
            <a:r>
              <a:rPr sz="1800">
                <a:solidFill>
                  <a:srgbClr val="1D2A37"/>
                </a:solidFill>
                <a:latin typeface="Aptos"/>
              </a:rPr>
              <a:t>UTXO-native Covenants statt zentraler Kontoregistry</a:t>
            </a:r>
          </a:p>
          <a:p>
            <a:pPr lvl="0">
              <a:lnSpc>
                <a:spcPct val="103000"/>
              </a:lnSpc>
              <a:spcAft>
                <a:spcPts val="600"/>
              </a:spcAft>
            </a:pPr>
            <a:r>
              <a:rPr sz="1800">
                <a:solidFill>
                  <a:srgbClr val="1D2A37"/>
                </a:solidFill>
                <a:latin typeface="Aptos"/>
              </a:rPr>
              <a:t>jeder Spend validiert zulässige Nachfolger</a:t>
            </a:r>
          </a:p>
          <a:p>
            <a:pPr lvl="0">
              <a:lnSpc>
                <a:spcPct val="103000"/>
              </a:lnSpc>
              <a:spcAft>
                <a:spcPts val="600"/>
              </a:spcAft>
            </a:pPr>
            <a:r>
              <a:rPr sz="1800">
                <a:solidFill>
                  <a:srgbClr val="1D2A37"/>
                </a:solidFill>
                <a:latin typeface="Aptos"/>
              </a:rPr>
              <a:t>lokale Split-/Merge-/Transfer-Invarianten</a:t>
            </a:r>
          </a:p>
          <a:p>
            <a:pPr lvl="0">
              <a:lnSpc>
                <a:spcPct val="103000"/>
              </a:lnSpc>
              <a:spcAft>
                <a:spcPts val="600"/>
              </a:spcAft>
            </a:pPr>
            <a:r>
              <a:rPr sz="1800">
                <a:solidFill>
                  <a:srgbClr val="1D2A37"/>
                </a:solidFill>
                <a:latin typeface="Aptos"/>
              </a:rPr>
              <a:t>paralleler Zahlungsverkehr ohne globalen Balance-Speicher</a:t>
            </a:r>
          </a:p>
          <a:p>
            <a:pPr lvl="0" indent="0" marL="0">
              <a:lnSpc>
                <a:spcPct val="103000"/>
              </a:lnSpc>
              <a:spcAft>
                <a:spcPts val="600"/>
              </a:spcAft>
              <a:buNone/>
            </a:pPr>
            <a:r>
              <a:rPr b="1" sz="1800">
                <a:solidFill>
                  <a:srgbClr val="1D2A37"/>
                </a:solidFill>
                <a:latin typeface="Aptos"/>
              </a:rPr>
              <a:t>Aber:</a:t>
            </a:r>
            <a:r>
              <a:rPr sz="1800">
                <a:solidFill>
                  <a:srgbClr val="1D2A37"/>
                </a:solidFill>
                <a:latin typeface="Aptos"/>
              </a:rPr>
              <a:t> KAS-Gebühren, Compiler, Wallets und Indexer bleiben externe Abhängigkeiten. Ein Migrationstest ist Pflicht.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185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8872" y="0"/>
            <a:ext cx="36576" cy="5143500"/>
          </a:xfrm>
          <a:prstGeom prst="rect">
            <a:avLst/>
          </a:prstGeom>
          <a:solidFill>
            <a:srgbClr val="199D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1060704"/>
            <a:ext cx="1234440" cy="41148"/>
          </a:xfrm>
          <a:prstGeom prst="rect">
            <a:avLst/>
          </a:prstGeom>
          <a:solidFill>
            <a:srgbClr val="DAA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4800600"/>
            <a:ext cx="71323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19" b="1">
                <a:solidFill>
                  <a:srgbClr val="5B6C7C"/>
                </a:solidFill>
                <a:latin typeface="Aptos"/>
              </a:rPr>
              <a:t>ΔΡΑΧ  ·  PROTOKOLL &amp; TRÄGERFORMEN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94192" y="4754880"/>
            <a:ext cx="320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185C9A"/>
                </a:solidFill>
                <a:latin typeface="Aptos"/>
              </a:rPr>
              <a:t>05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3232" y="402336"/>
            <a:ext cx="7818120" cy="576072"/>
          </a:xfrm>
        </p:spPr>
        <p:txBody>
          <a:bodyPr lIns="0" rIns="0">
            <a:normAutofit/>
          </a:bodyPr>
          <a:lstStyle/>
          <a:p>
            <a:pPr lvl="0" indent="0" marL="0">
              <a:spcAft>
                <a:spcPts val="0"/>
              </a:spcAft>
              <a:buNone/>
            </a:pPr>
            <a:r>
              <a:rPr sz="2400" b="1">
                <a:solidFill>
                  <a:srgbClr val="0B1F33"/>
                </a:solidFill>
                <a:latin typeface="Aptos Display"/>
              </a:rPr>
              <a:t>Der technische Kern bleibt klein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49808" y="1298448"/>
            <a:ext cx="7955279" cy="3328416"/>
          </a:xfrm>
        </p:spPr>
        <p:txBody>
          <a:bodyPr lIns="36576" rIns="36576" tIns="18288" bIns="18288" anchor="t">
            <a:normAutofit/>
          </a:bodyPr>
          <a:lstStyle/>
          <a:p>
            <a:pPr lvl="0">
              <a:lnSpc>
                <a:spcPct val="103000"/>
              </a:lnSpc>
              <a:spcAft>
                <a:spcPts val="600"/>
              </a:spcAft>
            </a:pPr>
            <a:r>
              <a:rPr b="1" sz="1800">
                <a:solidFill>
                  <a:srgbClr val="1D2A37"/>
                </a:solidFill>
                <a:latin typeface="Aptos"/>
              </a:rPr>
              <a:t>Constitution</a:t>
            </a:r>
            <a:r>
              <a:rPr sz="1800">
                <a:solidFill>
                  <a:srgbClr val="1D2A37"/>
                </a:solidFill>
                <a:latin typeface="Aptos"/>
              </a:rPr>
              <a:t> · M0, Mmax, Emissionsplan, Sunset</a:t>
            </a:r>
          </a:p>
          <a:p>
            <a:pPr lvl="0">
              <a:lnSpc>
                <a:spcPct val="103000"/>
              </a:lnSpc>
              <a:spcAft>
                <a:spcPts val="600"/>
              </a:spcAft>
            </a:pPr>
            <a:r>
              <a:rPr b="1" sz="1800">
                <a:solidFill>
                  <a:srgbClr val="1D2A37"/>
                </a:solidFill>
                <a:latin typeface="Aptos"/>
              </a:rPr>
              <a:t>Bearer</a:t>
            </a:r>
            <a:r>
              <a:rPr sz="1800">
                <a:solidFill>
                  <a:srgbClr val="1D2A37"/>
                </a:solidFill>
                <a:latin typeface="Aptos"/>
              </a:rPr>
              <a:t> · split, merge, transfer</a:t>
            </a:r>
          </a:p>
          <a:p>
            <a:pPr lvl="0">
              <a:lnSpc>
                <a:spcPct val="103000"/>
              </a:lnSpc>
              <a:spcAft>
                <a:spcPts val="600"/>
              </a:spcAft>
            </a:pPr>
            <a:r>
              <a:rPr b="1" sz="1800">
                <a:solidFill>
                  <a:srgbClr val="1D2A37"/>
                </a:solidFill>
                <a:latin typeface="Aptos"/>
              </a:rPr>
              <a:t>CashLot</a:t>
            </a:r>
            <a:r>
              <a:rPr sz="1800">
                <a:solidFill>
                  <a:srgbClr val="1D2A37"/>
                </a:solidFill>
                <a:latin typeface="Aptos"/>
              </a:rPr>
              <a:t> · physische Ausgabe und Vernichtung</a:t>
            </a:r>
          </a:p>
          <a:p>
            <a:pPr lvl="0">
              <a:lnSpc>
                <a:spcPct val="103000"/>
              </a:lnSpc>
              <a:spcAft>
                <a:spcPts val="600"/>
              </a:spcAft>
            </a:pPr>
            <a:r>
              <a:rPr b="1" sz="1800">
                <a:solidFill>
                  <a:srgbClr val="1D2A37"/>
                </a:solidFill>
                <a:latin typeface="Aptos"/>
              </a:rPr>
              <a:t>OfflineLock</a:t>
            </a:r>
            <a:r>
              <a:rPr sz="1800">
                <a:solidFill>
                  <a:srgbClr val="1D2A37"/>
                </a:solidFill>
                <a:latin typeface="Aptos"/>
              </a:rPr>
              <a:t> · vorfinanzierter Offline-Wert</a:t>
            </a:r>
          </a:p>
          <a:p>
            <a:pPr lvl="0">
              <a:lnSpc>
                <a:spcPct val="103000"/>
              </a:lnSpc>
              <a:spcAft>
                <a:spcPts val="600"/>
              </a:spcAft>
            </a:pPr>
            <a:r>
              <a:rPr b="1" sz="1800">
                <a:solidFill>
                  <a:srgbClr val="1D2A37"/>
                </a:solidFill>
                <a:latin typeface="Aptos"/>
              </a:rPr>
              <a:t>Recovery</a:t>
            </a:r>
            <a:r>
              <a:rPr sz="1800">
                <a:solidFill>
                  <a:srgbClr val="1D2A37"/>
                </a:solidFill>
                <a:latin typeface="Aptos"/>
              </a:rPr>
              <a:t> · eng begrenzte Streitfälle</a:t>
            </a:r>
          </a:p>
          <a:p>
            <a:pPr lvl="0" indent="0" marL="0">
              <a:lnSpc>
                <a:spcPct val="103000"/>
              </a:lnSpc>
              <a:spcAft>
                <a:spcPts val="600"/>
              </a:spcAft>
              <a:buNone/>
            </a:pPr>
            <a:r>
              <a:rPr sz="1800">
                <a:solidFill>
                  <a:srgbClr val="1D2A37"/>
                </a:solidFill>
                <a:latin typeface="Aptos"/>
              </a:rPr>
              <a:t>Kein Oracle, EUR-Peg, Blacklist- oder globaler Pause-Schalter.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185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8872" y="0"/>
            <a:ext cx="36576" cy="5143500"/>
          </a:xfrm>
          <a:prstGeom prst="rect">
            <a:avLst/>
          </a:prstGeom>
          <a:solidFill>
            <a:srgbClr val="199D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1060704"/>
            <a:ext cx="1234440" cy="41148"/>
          </a:xfrm>
          <a:prstGeom prst="rect">
            <a:avLst/>
          </a:prstGeom>
          <a:solidFill>
            <a:srgbClr val="DAA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4800600"/>
            <a:ext cx="71323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19" b="1">
                <a:solidFill>
                  <a:srgbClr val="5B6C7C"/>
                </a:solidFill>
                <a:latin typeface="Aptos"/>
              </a:rPr>
              <a:t>ΔΡΑΧ  ·  PROTOKOLL &amp; TRÄGERFORMEN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94192" y="4754880"/>
            <a:ext cx="320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185C9A"/>
                </a:solidFill>
                <a:latin typeface="Aptos"/>
              </a:rPr>
              <a:t>06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3232" y="402336"/>
            <a:ext cx="7818120" cy="576072"/>
          </a:xfrm>
        </p:spPr>
        <p:txBody>
          <a:bodyPr lIns="0" rIns="0">
            <a:normAutofit/>
          </a:bodyPr>
          <a:lstStyle/>
          <a:p>
            <a:pPr lvl="0" indent="0" marL="0">
              <a:spcAft>
                <a:spcPts val="0"/>
              </a:spcAft>
              <a:buNone/>
            </a:pPr>
            <a:r>
              <a:rPr sz="2400" b="1">
                <a:solidFill>
                  <a:srgbClr val="0B1F33"/>
                </a:solidFill>
                <a:latin typeface="Aptos Display"/>
              </a:rPr>
              <a:t>Banknote und Token sind dieselbe Verbindlichkeit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49808" y="1298448"/>
            <a:ext cx="7955279" cy="3328416"/>
          </a:xfrm>
        </p:spPr>
        <p:txBody>
          <a:bodyPr lIns="36576" rIns="36576" tIns="18288" bIns="18288" anchor="t">
            <a:normAutofit/>
          </a:bodyPr>
          <a:lstStyle/>
          <a:p>
            <a:pPr lvl="0" indent="-342900" marL="342900">
              <a:lnSpc>
                <a:spcPct val="103000"/>
              </a:lnSpc>
              <a:spcAft>
                <a:spcPts val="600"/>
              </a:spcAft>
              <a:buAutoNum type="arabicPeriod"/>
            </a:pPr>
            <a:r>
              <a:rPr sz="1680">
                <a:solidFill>
                  <a:srgbClr val="1D2A37"/>
                </a:solidFill>
                <a:latin typeface="Aptos"/>
              </a:rPr>
              <a:t>Bank oder Cash Utility sperrt </a:t>
            </a:r>
            <a:r>
              <a:rPr sz="1680">
                <a:solidFill>
                  <a:srgbClr val="1D2A37"/>
                </a:solidFill>
                <a:latin typeface="Aptos"/>
              </a:rPr>
              <a:t>x ΔΡΑΧ</a:t>
            </a:r>
            <a:r>
              <a:rPr sz="1680">
                <a:solidFill>
                  <a:srgbClr val="1D2A37"/>
                </a:solidFill>
                <a:latin typeface="Aptos"/>
              </a:rPr>
              <a:t> im CashLot.</a:t>
            </a:r>
          </a:p>
          <a:p>
            <a:pPr lvl="0" indent="-342900" marL="342900">
              <a:lnSpc>
                <a:spcPct val="103000"/>
              </a:lnSpc>
              <a:spcAft>
                <a:spcPts val="600"/>
              </a:spcAft>
              <a:buAutoNum type="arabicPeriod"/>
            </a:pPr>
            <a:r>
              <a:rPr sz="1680">
                <a:solidFill>
                  <a:srgbClr val="1D2A37"/>
                </a:solidFill>
                <a:latin typeface="Aptos"/>
              </a:rPr>
              <a:t>Druckerei/Münzstätte produziert nur gegen gültigen Warrant.</a:t>
            </a:r>
          </a:p>
          <a:p>
            <a:pPr lvl="0" indent="-342900" marL="342900">
              <a:lnSpc>
                <a:spcPct val="103000"/>
              </a:lnSpc>
              <a:spcAft>
                <a:spcPts val="600"/>
              </a:spcAft>
              <a:buAutoNum type="arabicPeriod"/>
            </a:pPr>
            <a:r>
              <a:rPr sz="1680">
                <a:solidFill>
                  <a:srgbClr val="1D2A37"/>
                </a:solidFill>
                <a:latin typeface="Aptos"/>
              </a:rPr>
              <a:t>Prüfer attestiert Charge; Ausgabe wechselt auf „Issued“.</a:t>
            </a:r>
          </a:p>
          <a:p>
            <a:pPr lvl="0" indent="-342900" marL="342900">
              <a:lnSpc>
                <a:spcPct val="103000"/>
              </a:lnSpc>
              <a:spcAft>
                <a:spcPts val="600"/>
              </a:spcAft>
              <a:buAutoNum type="arabicPeriod"/>
            </a:pPr>
            <a:r>
              <a:rPr sz="1680">
                <a:solidFill>
                  <a:srgbClr val="1D2A37"/>
                </a:solidFill>
                <a:latin typeface="Aptos"/>
              </a:rPr>
              <a:t>Rückgabe wird geprüft, entwertet und vernichtet.</a:t>
            </a:r>
          </a:p>
          <a:p>
            <a:pPr lvl="0" indent="-342900" marL="342900">
              <a:lnSpc>
                <a:spcPct val="103000"/>
              </a:lnSpc>
              <a:spcAft>
                <a:spcPts val="600"/>
              </a:spcAft>
              <a:buAutoNum type="arabicPeriod"/>
            </a:pPr>
            <a:r>
              <a:rPr sz="1680">
                <a:solidFill>
                  <a:srgbClr val="1D2A37"/>
                </a:solidFill>
                <a:latin typeface="Aptos"/>
              </a:rPr>
              <a:t>Erst danach werden exakt </a:t>
            </a:r>
            <a:r>
              <a:rPr sz="1680">
                <a:solidFill>
                  <a:srgbClr val="1D2A37"/>
                </a:solidFill>
                <a:latin typeface="Aptos"/>
              </a:rPr>
              <a:t>x ΔΡΑΧ</a:t>
            </a:r>
            <a:r>
              <a:rPr sz="1680">
                <a:solidFill>
                  <a:srgbClr val="1D2A37"/>
                </a:solidFill>
                <a:latin typeface="Aptos"/>
              </a:rPr>
              <a:t> digital freigegeben.</a:t>
            </a:r>
          </a:p>
          <a:p>
            <a:pPr lvl="0" indent="0" marL="0">
              <a:lnSpc>
                <a:spcPct val="103000"/>
              </a:lnSpc>
              <a:spcAft>
                <a:spcPts val="600"/>
              </a:spcAft>
              <a:buNone/>
            </a:pPr>
            <a:r>
              <a:rPr b="1" sz="1680">
                <a:solidFill>
                  <a:srgbClr val="1D2A37"/>
                </a:solidFill>
                <a:latin typeface="Aptos"/>
              </a:rPr>
              <a:t>Bei Unsicherheit bleibt der digitale Wert gesperrt: Liquidität kann blockieren, die Geldmenge nicht wachsen.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185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8872" y="0"/>
            <a:ext cx="36576" cy="5143500"/>
          </a:xfrm>
          <a:prstGeom prst="rect">
            <a:avLst/>
          </a:prstGeom>
          <a:solidFill>
            <a:srgbClr val="199D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1060704"/>
            <a:ext cx="1234440" cy="41148"/>
          </a:xfrm>
          <a:prstGeom prst="rect">
            <a:avLst/>
          </a:prstGeom>
          <a:solidFill>
            <a:srgbClr val="DAA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4800600"/>
            <a:ext cx="71323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19" b="1">
                <a:solidFill>
                  <a:srgbClr val="5B6C7C"/>
                </a:solidFill>
                <a:latin typeface="Aptos"/>
              </a:rPr>
              <a:t>ΔΡΑΧ  ·  PROTOKOLL &amp; TRÄGERFORMEN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94192" y="4754880"/>
            <a:ext cx="320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185C9A"/>
                </a:solidFill>
                <a:latin typeface="Aptos"/>
              </a:rPr>
              <a:t>07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3232" y="402336"/>
            <a:ext cx="7818120" cy="576072"/>
          </a:xfrm>
        </p:spPr>
        <p:txBody>
          <a:bodyPr lIns="0" rIns="0">
            <a:normAutofit/>
          </a:bodyPr>
          <a:lstStyle/>
          <a:p>
            <a:pPr lvl="0" indent="0" marL="0">
              <a:spcAft>
                <a:spcPts val="0"/>
              </a:spcAft>
              <a:buNone/>
            </a:pPr>
            <a:r>
              <a:rPr sz="2400" b="1">
                <a:solidFill>
                  <a:srgbClr val="0B1F33"/>
                </a:solidFill>
                <a:latin typeface="Aptos Display"/>
              </a:rPr>
              <a:t>Offline ist begrenzt - nicht magisch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49808" y="1298448"/>
            <a:ext cx="7955279" cy="3328416"/>
          </a:xfrm>
        </p:spPr>
        <p:txBody>
          <a:bodyPr lIns="36576" rIns="36576" tIns="18288" bIns="18288" anchor="t">
            <a:normAutofit/>
          </a:bodyPr>
          <a:lstStyle/>
          <a:p>
            <a:pPr lvl="0">
              <a:lnSpc>
                <a:spcPct val="103000"/>
              </a:lnSpc>
              <a:spcAft>
                <a:spcPts val="600"/>
              </a:spcAft>
            </a:pPr>
            <a:r>
              <a:rPr sz="1800">
                <a:solidFill>
                  <a:srgbClr val="1D2A37"/>
                </a:solidFill>
                <a:latin typeface="Aptos"/>
              </a:rPr>
              <a:t>maximal 150 ΔΡΑΧ je Gerät</a:t>
            </a:r>
          </a:p>
          <a:p>
            <a:pPr lvl="0">
              <a:lnSpc>
                <a:spcPct val="103000"/>
              </a:lnSpc>
              <a:spcAft>
                <a:spcPts val="600"/>
              </a:spcAft>
            </a:pPr>
            <a:r>
              <a:rPr sz="1800">
                <a:solidFill>
                  <a:srgbClr val="1D2A37"/>
                </a:solidFill>
                <a:latin typeface="Aptos"/>
              </a:rPr>
              <a:t>maximal 50 ΔΡΑΧ je Zahlung</a:t>
            </a:r>
          </a:p>
          <a:p>
            <a:pPr lvl="0">
              <a:lnSpc>
                <a:spcPct val="103000"/>
              </a:lnSpc>
              <a:spcAft>
                <a:spcPts val="600"/>
              </a:spcAft>
            </a:pPr>
            <a:r>
              <a:rPr sz="1800">
                <a:solidFill>
                  <a:srgbClr val="1D2A37"/>
                </a:solidFill>
                <a:latin typeface="Aptos"/>
              </a:rPr>
              <a:t>maximal drei Offline-Hops</a:t>
            </a:r>
          </a:p>
          <a:p>
            <a:pPr lvl="0">
              <a:lnSpc>
                <a:spcPct val="103000"/>
              </a:lnSpc>
              <a:spcAft>
                <a:spcPts val="600"/>
              </a:spcAft>
            </a:pPr>
            <a:r>
              <a:rPr sz="1800">
                <a:solidFill>
                  <a:srgbClr val="1D2A37"/>
                </a:solidFill>
                <a:latin typeface="Aptos"/>
              </a:rPr>
              <a:t>Synchronisation spätestens nach 72 Stunden</a:t>
            </a:r>
          </a:p>
          <a:p>
            <a:pPr lvl="0">
              <a:lnSpc>
                <a:spcPct val="103000"/>
              </a:lnSpc>
              <a:spcAft>
                <a:spcPts val="600"/>
              </a:spcAft>
            </a:pPr>
            <a:r>
              <a:rPr sz="1800">
                <a:solidFill>
                  <a:srgbClr val="1D2A37"/>
                </a:solidFill>
                <a:latin typeface="Aptos"/>
              </a:rPr>
              <a:t>Händler sieht Offline-Eingang bis Abrechnung als risikobehaftet</a:t>
            </a:r>
          </a:p>
          <a:p>
            <a:pPr lvl="0" indent="0" marL="0">
              <a:lnSpc>
                <a:spcPct val="103000"/>
              </a:lnSpc>
              <a:spcAft>
                <a:spcPts val="600"/>
              </a:spcAft>
              <a:buNone/>
            </a:pPr>
            <a:r>
              <a:rPr b="1" sz="1800">
                <a:solidFill>
                  <a:srgbClr val="1D2A37"/>
                </a:solidFill>
                <a:latin typeface="Aptos"/>
              </a:rPr>
              <a:t>Trustlose, unbegrenzte Offline-Finalität wird ausdrücklich nicht versprochen.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185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8872" y="0"/>
            <a:ext cx="36576" cy="5143500"/>
          </a:xfrm>
          <a:prstGeom prst="rect">
            <a:avLst/>
          </a:prstGeom>
          <a:solidFill>
            <a:srgbClr val="199D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1060704"/>
            <a:ext cx="1234440" cy="41148"/>
          </a:xfrm>
          <a:prstGeom prst="rect">
            <a:avLst/>
          </a:prstGeom>
          <a:solidFill>
            <a:srgbClr val="DAA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4800600"/>
            <a:ext cx="71323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19" b="1">
                <a:solidFill>
                  <a:srgbClr val="5B6C7C"/>
                </a:solidFill>
                <a:latin typeface="Aptos"/>
              </a:rPr>
              <a:t>ΔΡΑΧ  ·  PROTOKOLL &amp; TRÄGERFORMEN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94192" y="4754880"/>
            <a:ext cx="320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185C9A"/>
                </a:solidFill>
                <a:latin typeface="Aptos"/>
              </a:rPr>
              <a:t>08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3232" y="402336"/>
            <a:ext cx="7818120" cy="576072"/>
          </a:xfrm>
        </p:spPr>
        <p:txBody>
          <a:bodyPr lIns="0" rIns="0">
            <a:normAutofit/>
          </a:bodyPr>
          <a:lstStyle/>
          <a:p>
            <a:pPr lvl="0" indent="0" marL="0">
              <a:spcAft>
                <a:spcPts val="0"/>
              </a:spcAft>
              <a:buNone/>
            </a:pPr>
            <a:r>
              <a:rPr sz="2400" b="1">
                <a:solidFill>
                  <a:srgbClr val="0B1F33"/>
                </a:solidFill>
                <a:latin typeface="Aptos Display"/>
              </a:rPr>
              <a:t>Der Staat startet - und verliert die Schlüssel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49808" y="1298448"/>
            <a:ext cx="7955279" cy="3328416"/>
          </a:xfrm>
        </p:spPr>
        <p:txBody>
          <a:bodyPr lIns="36576" rIns="36576" tIns="18288" bIns="18288" anchor="t">
            <a:normAutofit/>
          </a:bodyPr>
          <a:lstStyle/>
          <a:p>
            <a:pPr lvl="0">
              <a:lnSpc>
                <a:spcPct val="103000"/>
              </a:lnSpc>
              <a:spcAft>
                <a:spcPts val="600"/>
              </a:spcAft>
            </a:pPr>
            <a:r>
              <a:rPr b="1" sz="1800">
                <a:solidFill>
                  <a:srgbClr val="1D2A37"/>
                </a:solidFill>
                <a:latin typeface="Aptos"/>
              </a:rPr>
              <a:t>Tag 0-90</a:t>
            </a:r>
            <a:r>
              <a:rPr sz="1800">
                <a:solidFill>
                  <a:srgbClr val="1D2A37"/>
                </a:solidFill>
                <a:latin typeface="Aptos"/>
              </a:rPr>
              <a:t> · Testnet/Bugfixes · 4/7 · 48 Stunden</a:t>
            </a:r>
          </a:p>
          <a:p>
            <a:pPr lvl="0">
              <a:lnSpc>
                <a:spcPct val="103000"/>
              </a:lnSpc>
              <a:spcAft>
                <a:spcPts val="600"/>
              </a:spcAft>
            </a:pPr>
            <a:r>
              <a:rPr b="1" sz="1800">
                <a:solidFill>
                  <a:srgbClr val="1D2A37"/>
                </a:solidFill>
                <a:latin typeface="Aptos"/>
              </a:rPr>
              <a:t>Tag 91-365</a:t>
            </a:r>
            <a:r>
              <a:rPr sz="1800">
                <a:solidFill>
                  <a:srgbClr val="1D2A37"/>
                </a:solidFill>
                <a:latin typeface="Aptos"/>
              </a:rPr>
              <a:t> · nur Security · 5/9 · 14 Tage</a:t>
            </a:r>
          </a:p>
          <a:p>
            <a:pPr lvl="0">
              <a:lnSpc>
                <a:spcPct val="103000"/>
              </a:lnSpc>
              <a:spcAft>
                <a:spcPts val="600"/>
              </a:spcAft>
            </a:pPr>
            <a:r>
              <a:rPr b="1" sz="1800">
                <a:solidFill>
                  <a:srgbClr val="1D2A37"/>
                </a:solidFill>
                <a:latin typeface="Aptos"/>
              </a:rPr>
              <a:t>Monat 13-24</a:t>
            </a:r>
            <a:r>
              <a:rPr sz="1800">
                <a:solidFill>
                  <a:srgbClr val="1D2A37"/>
                </a:solidFill>
                <a:latin typeface="Aptos"/>
              </a:rPr>
              <a:t> · Übergabe · 6/11 · 30 Tage</a:t>
            </a:r>
          </a:p>
          <a:p>
            <a:pPr lvl="0">
              <a:lnSpc>
                <a:spcPct val="103000"/>
              </a:lnSpc>
              <a:spcAft>
                <a:spcPts val="600"/>
              </a:spcAft>
            </a:pPr>
            <a:r>
              <a:rPr b="1" sz="1800">
                <a:solidFill>
                  <a:srgbClr val="1D2A37"/>
                </a:solidFill>
                <a:latin typeface="Aptos"/>
              </a:rPr>
              <a:t>Sunset</a:t>
            </a:r>
            <a:r>
              <a:rPr sz="1800">
                <a:solidFill>
                  <a:srgbClr val="1D2A37"/>
                </a:solidFill>
                <a:latin typeface="Aptos"/>
              </a:rPr>
              <a:t> · Key Burn und öffentlicher Covenant-Nachweis</a:t>
            </a:r>
          </a:p>
          <a:p>
            <a:pPr lvl="0" indent="0" marL="0">
              <a:lnSpc>
                <a:spcPct val="103000"/>
              </a:lnSpc>
              <a:spcAft>
                <a:spcPts val="600"/>
              </a:spcAft>
              <a:buNone/>
            </a:pPr>
            <a:r>
              <a:rPr sz="1800">
                <a:solidFill>
                  <a:srgbClr val="1D2A37"/>
                </a:solidFill>
                <a:latin typeface="Aptos"/>
              </a:rPr>
              <a:t>Mmax, Unfreezeability und Cash-Deckung sind danach nicht regierbar.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185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8872" y="0"/>
            <a:ext cx="36576" cy="5143500"/>
          </a:xfrm>
          <a:prstGeom prst="rect">
            <a:avLst/>
          </a:prstGeom>
          <a:solidFill>
            <a:srgbClr val="199D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1060704"/>
            <a:ext cx="1234440" cy="41148"/>
          </a:xfrm>
          <a:prstGeom prst="rect">
            <a:avLst/>
          </a:prstGeom>
          <a:solidFill>
            <a:srgbClr val="DAA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4800600"/>
            <a:ext cx="71323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19" b="1">
                <a:solidFill>
                  <a:srgbClr val="5B6C7C"/>
                </a:solidFill>
                <a:latin typeface="Aptos"/>
              </a:rPr>
              <a:t>ΔΡΑΧ  ·  INSTITUTIONEN &amp; RECHTSRAHMEN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94192" y="4754880"/>
            <a:ext cx="320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185C9A"/>
                </a:solidFill>
                <a:latin typeface="Aptos"/>
              </a:rPr>
              <a:t>09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3232" y="402336"/>
            <a:ext cx="7818120" cy="576072"/>
          </a:xfrm>
        </p:spPr>
        <p:txBody>
          <a:bodyPr lIns="0" rIns="0">
            <a:normAutofit/>
          </a:bodyPr>
          <a:lstStyle/>
          <a:p>
            <a:pPr lvl="0" indent="0" marL="0">
              <a:spcAft>
                <a:spcPts val="0"/>
              </a:spcAft>
              <a:buNone/>
            </a:pPr>
            <a:r>
              <a:rPr sz="2400" b="1">
                <a:solidFill>
                  <a:srgbClr val="0B1F33"/>
                </a:solidFill>
                <a:latin typeface="Aptos Display"/>
              </a:rPr>
              <a:t>Banken verwahren Zahlungen - Kredit trägt Laufzeitrisiko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49808" y="1298448"/>
            <a:ext cx="7955279" cy="3328416"/>
          </a:xfrm>
        </p:spPr>
        <p:txBody>
          <a:bodyPr lIns="36576" rIns="36576" tIns="18288" bIns="18288" anchor="t">
            <a:normAutofit/>
          </a:bodyPr>
          <a:lstStyle/>
          <a:p>
            <a:pPr lvl="0" indent="0" marL="0">
              <a:lnSpc>
                <a:spcPct val="103000"/>
              </a:lnSpc>
              <a:spcAft>
                <a:spcPts val="600"/>
              </a:spcAft>
              <a:buNone/>
            </a:pPr>
            <a:r>
              <a:rPr b="1" sz="1680">
                <a:solidFill>
                  <a:srgbClr val="1D2A37"/>
                </a:solidFill>
                <a:latin typeface="Aptos"/>
              </a:rPr>
              <a:t>Zahlungskonten</a:t>
            </a:r>
          </a:p>
          <a:p>
            <a:pPr lvl="0">
              <a:lnSpc>
                <a:spcPct val="103000"/>
              </a:lnSpc>
              <a:spcAft>
                <a:spcPts val="600"/>
              </a:spcAft>
            </a:pPr>
            <a:r>
              <a:rPr sz="1680">
                <a:solidFill>
                  <a:srgbClr val="1D2A37"/>
                </a:solidFill>
                <a:latin typeface="Aptos"/>
              </a:rPr>
              <a:t>100 % Reserve in ΔΡΑΧ</a:t>
            </a:r>
          </a:p>
          <a:p>
            <a:pPr lvl="0">
              <a:lnSpc>
                <a:spcPct val="103000"/>
              </a:lnSpc>
              <a:spcAft>
                <a:spcPts val="600"/>
              </a:spcAft>
            </a:pPr>
            <a:r>
              <a:rPr sz="1680">
                <a:solidFill>
                  <a:srgbClr val="1D2A37"/>
                </a:solidFill>
                <a:latin typeface="Aptos"/>
              </a:rPr>
              <a:t>insolvenzfestes Sondervermögen</a:t>
            </a:r>
          </a:p>
          <a:p>
            <a:pPr lvl="0">
              <a:lnSpc>
                <a:spcPct val="103000"/>
              </a:lnSpc>
              <a:spcAft>
                <a:spcPts val="600"/>
              </a:spcAft>
            </a:pPr>
            <a:r>
              <a:rPr sz="1680">
                <a:solidFill>
                  <a:srgbClr val="1D2A37"/>
                </a:solidFill>
                <a:latin typeface="Aptos"/>
              </a:rPr>
              <a:t>öffentliche Reserve-Attestation</a:t>
            </a:r>
          </a:p>
          <a:p>
            <a:pPr lvl="0" indent="0" marL="0">
              <a:lnSpc>
                <a:spcPct val="103000"/>
              </a:lnSpc>
              <a:spcAft>
                <a:spcPts val="600"/>
              </a:spcAft>
              <a:buNone/>
            </a:pPr>
            <a:r>
              <a:rPr b="1" sz="1680">
                <a:solidFill>
                  <a:srgbClr val="1D2A37"/>
                </a:solidFill>
                <a:latin typeface="Aptos"/>
              </a:rPr>
              <a:t>Kredit</a:t>
            </a:r>
          </a:p>
          <a:p>
            <a:pPr lvl="0">
              <a:lnSpc>
                <a:spcPct val="103000"/>
              </a:lnSpc>
              <a:spcAft>
                <a:spcPts val="600"/>
              </a:spcAft>
            </a:pPr>
            <a:r>
              <a:rPr sz="1680">
                <a:solidFill>
                  <a:srgbClr val="1D2A37"/>
                </a:solidFill>
                <a:latin typeface="Aptos"/>
              </a:rPr>
              <a:t>aus Termineinlagen, Anleihen, Eigenkapital und Fonds</a:t>
            </a:r>
          </a:p>
          <a:p>
            <a:pPr lvl="0">
              <a:lnSpc>
                <a:spcPct val="103000"/>
              </a:lnSpc>
              <a:spcAft>
                <a:spcPts val="600"/>
              </a:spcAft>
            </a:pPr>
            <a:r>
              <a:rPr sz="1680">
                <a:solidFill>
                  <a:srgbClr val="1D2A37"/>
                </a:solidFill>
                <a:latin typeface="Aptos"/>
              </a:rPr>
              <a:t>kein Geldschöpfungsrecht der Bank</a:t>
            </a:r>
          </a:p>
          <a:p>
            <a:pPr lvl="0">
              <a:lnSpc>
                <a:spcPct val="103000"/>
              </a:lnSpc>
              <a:spcAft>
                <a:spcPts val="600"/>
              </a:spcAft>
            </a:pPr>
            <a:r>
              <a:rPr sz="1680">
                <a:solidFill>
                  <a:srgbClr val="1D2A37"/>
                </a:solidFill>
                <a:latin typeface="Aptos"/>
              </a:rPr>
              <a:t>Verluste trägt Risikokapital</a:t>
            </a:r>
          </a:p>
          <a:p>
            <a:pPr lvl="0" indent="0" marL="0">
              <a:lnSpc>
                <a:spcPct val="103000"/>
              </a:lnSpc>
              <a:spcAft>
                <a:spcPts val="600"/>
              </a:spcAft>
              <a:buNone/>
            </a:pPr>
            <a:r>
              <a:rPr b="1" sz="1680">
                <a:solidFill>
                  <a:srgbClr val="1D2A37"/>
                </a:solidFill>
                <a:latin typeface="Aptos"/>
              </a:rPr>
              <a:t>Krisenliquidität muss vorfinanziert sein.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185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8872" y="0"/>
            <a:ext cx="36576" cy="5143500"/>
          </a:xfrm>
          <a:prstGeom prst="rect">
            <a:avLst/>
          </a:prstGeom>
          <a:solidFill>
            <a:srgbClr val="199D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1060704"/>
            <a:ext cx="1234440" cy="41148"/>
          </a:xfrm>
          <a:prstGeom prst="rect">
            <a:avLst/>
          </a:prstGeom>
          <a:solidFill>
            <a:srgbClr val="DAA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4800600"/>
            <a:ext cx="71323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19" b="1">
                <a:solidFill>
                  <a:srgbClr val="5B6C7C"/>
                </a:solidFill>
                <a:latin typeface="Aptos"/>
              </a:rPr>
              <a:t>ΔΡΑΧ  ·  INSTITUTIONEN &amp; RECHTSRAHMEN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94192" y="4754880"/>
            <a:ext cx="320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185C9A"/>
                </a:solidFill>
                <a:latin typeface="Aptos"/>
              </a:rPr>
              <a:t>10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3232" y="402336"/>
            <a:ext cx="7818120" cy="576072"/>
          </a:xfrm>
        </p:spPr>
        <p:txBody>
          <a:bodyPr lIns="0" rIns="0">
            <a:normAutofit/>
          </a:bodyPr>
          <a:lstStyle/>
          <a:p>
            <a:pPr lvl="0" indent="0" marL="0">
              <a:spcAft>
                <a:spcPts val="0"/>
              </a:spcAft>
              <a:buNone/>
            </a:pPr>
            <a:r>
              <a:rPr sz="2400" b="1">
                <a:solidFill>
                  <a:srgbClr val="0B1F33"/>
                </a:solidFill>
                <a:latin typeface="Aptos Display"/>
              </a:rPr>
              <a:t>Weltwirtschaftliche Relevanz muss verdient werden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49808" y="1298448"/>
            <a:ext cx="7955279" cy="3328416"/>
          </a:xfrm>
        </p:spPr>
        <p:txBody>
          <a:bodyPr lIns="36576" rIns="36576" tIns="18288" bIns="18288" anchor="t">
            <a:normAutofit/>
          </a:bodyPr>
          <a:lstStyle/>
          <a:p>
            <a:pPr lvl="0" indent="0" marL="0">
              <a:lnSpc>
                <a:spcPct val="103000"/>
              </a:lnSpc>
              <a:spcAft>
                <a:spcPts val="600"/>
              </a:spcAft>
              <a:buNone/>
            </a:pPr>
            <a:r>
              <a:rPr b="1" sz="1680">
                <a:solidFill>
                  <a:srgbClr val="1D2A37"/>
                </a:solidFill>
                <a:latin typeface="Aptos"/>
              </a:rPr>
              <a:t>Schifffahrt</a:t>
            </a:r>
            <a:r>
              <a:rPr sz="1680">
                <a:solidFill>
                  <a:srgbClr val="1D2A37"/>
                </a:solidFill>
                <a:latin typeface="Aptos"/>
              </a:rPr>
              <a:t> · Griechenland hielt Anfang 2025 16,4 % der globalen Flottenkapazität.</a:t>
            </a:r>
            <a:br/>
            <a:r>
              <a:rPr b="1" sz="1680">
                <a:solidFill>
                  <a:srgbClr val="1D2A37"/>
                </a:solidFill>
                <a:latin typeface="Aptos"/>
              </a:rPr>
              <a:t>Tourismus</a:t>
            </a:r>
            <a:r>
              <a:rPr sz="1680">
                <a:solidFill>
                  <a:srgbClr val="1D2A37"/>
                </a:solidFill>
                <a:latin typeface="Aptos"/>
              </a:rPr>
              <a:t> · Reiseeinnahmen 2025: 23,6268 Mrd. Euro.</a:t>
            </a:r>
            <a:br/>
            <a:r>
              <a:rPr b="1" sz="1680">
                <a:solidFill>
                  <a:srgbClr val="1D2A37"/>
                </a:solidFill>
                <a:latin typeface="Aptos"/>
              </a:rPr>
              <a:t>Inseln</a:t>
            </a:r>
            <a:r>
              <a:rPr sz="1680">
                <a:solidFill>
                  <a:srgbClr val="1D2A37"/>
                </a:solidFill>
                <a:latin typeface="Aptos"/>
              </a:rPr>
              <a:t> · Naxos, Kalymnos und Syros bieten unterschiedliche Pilotprofile.</a:t>
            </a:r>
            <a:br/>
            <a:r>
              <a:rPr b="1" sz="1680">
                <a:solidFill>
                  <a:srgbClr val="1D2A37"/>
                </a:solidFill>
                <a:latin typeface="Aptos"/>
              </a:rPr>
              <a:t>Diaspora</a:t>
            </a:r>
            <a:r>
              <a:rPr sz="1680">
                <a:solidFill>
                  <a:srgbClr val="1D2A37"/>
                </a:solidFill>
                <a:latin typeface="Aptos"/>
              </a:rPr>
              <a:t> · freie, regulierte On-/Off-Ramps statt offiziellem EUR-Schalter.</a:t>
            </a:r>
          </a:p>
          <a:p>
            <a:pPr lvl="0" indent="0" marL="0">
              <a:lnSpc>
                <a:spcPct val="103000"/>
              </a:lnSpc>
              <a:spcAft>
                <a:spcPts val="600"/>
              </a:spcAft>
              <a:buNone/>
            </a:pPr>
            <a:r>
              <a:rPr sz="1680">
                <a:solidFill>
                  <a:srgbClr val="1D2A37"/>
                </a:solidFill>
                <a:latin typeface="Aptos"/>
              </a:rPr>
              <a:t>BTC, ETH und Gold dürfen in einem getrennten Liquiditätsfonds liegen - niemals mit Mint- oder Peg-Recht.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185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8872" y="0"/>
            <a:ext cx="36576" cy="5143500"/>
          </a:xfrm>
          <a:prstGeom prst="rect">
            <a:avLst/>
          </a:prstGeom>
          <a:solidFill>
            <a:srgbClr val="199D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1060704"/>
            <a:ext cx="1234440" cy="41148"/>
          </a:xfrm>
          <a:prstGeom prst="rect">
            <a:avLst/>
          </a:prstGeom>
          <a:solidFill>
            <a:srgbClr val="DAA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4800600"/>
            <a:ext cx="71323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19" b="1">
                <a:solidFill>
                  <a:srgbClr val="5B6C7C"/>
                </a:solidFill>
                <a:latin typeface="Aptos"/>
              </a:rPr>
              <a:t>ΔΡΑΧ  ·  INSTITUTIONEN &amp; RECHTSRAHMEN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94192" y="4754880"/>
            <a:ext cx="320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185C9A"/>
                </a:solidFill>
                <a:latin typeface="Aptos"/>
              </a:rPr>
              <a:t>11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3232" y="402336"/>
            <a:ext cx="7818120" cy="576072"/>
          </a:xfrm>
        </p:spPr>
        <p:txBody>
          <a:bodyPr lIns="0" rIns="0">
            <a:normAutofit/>
          </a:bodyPr>
          <a:lstStyle/>
          <a:p>
            <a:pPr lvl="0" indent="0" marL="0">
              <a:spcAft>
                <a:spcPts val="0"/>
              </a:spcAft>
              <a:buNone/>
            </a:pPr>
            <a:r>
              <a:rPr sz="2400" b="1">
                <a:solidFill>
                  <a:srgbClr val="0B1F33"/>
                </a:solidFill>
                <a:latin typeface="Aptos Display"/>
              </a:rPr>
              <a:t>Zwei Rechtspfade dürfen nicht vermischt werden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49808" y="1298448"/>
            <a:ext cx="7955279" cy="3328416"/>
          </a:xfrm>
        </p:spPr>
        <p:txBody>
          <a:bodyPr lIns="36576" rIns="36576" tIns="18288" bIns="18288" anchor="t">
            <a:normAutofit/>
          </a:bodyPr>
          <a:lstStyle/>
          <a:p>
            <a:pPr lvl="0" indent="0" marL="0">
              <a:lnSpc>
                <a:spcPct val="103000"/>
              </a:lnSpc>
              <a:spcAft>
                <a:spcPts val="600"/>
              </a:spcAft>
              <a:buNone/>
            </a:pPr>
            <a:r>
              <a:rPr b="1" sz="1680">
                <a:solidFill>
                  <a:srgbClr val="1D2A37"/>
                </a:solidFill>
                <a:latin typeface="Aptos"/>
              </a:rPr>
              <a:t>Eurozone / Phase 0</a:t>
            </a:r>
          </a:p>
          <a:p>
            <a:pPr lvl="0">
              <a:lnSpc>
                <a:spcPct val="103000"/>
              </a:lnSpc>
              <a:spcAft>
                <a:spcPts val="600"/>
              </a:spcAft>
            </a:pPr>
            <a:r>
              <a:rPr sz="1680">
                <a:solidFill>
                  <a:srgbClr val="1D2A37"/>
                </a:solidFill>
                <a:latin typeface="Aptos"/>
              </a:rPr>
              <a:t>Forschung und wertloses Testnet</a:t>
            </a:r>
          </a:p>
          <a:p>
            <a:pPr lvl="0">
              <a:lnSpc>
                <a:spcPct val="103000"/>
              </a:lnSpc>
              <a:spcAft>
                <a:spcPts val="600"/>
              </a:spcAft>
            </a:pPr>
            <a:r>
              <a:rPr sz="1680">
                <a:solidFill>
                  <a:srgbClr val="1D2A37"/>
                </a:solidFill>
                <a:latin typeface="Aptos"/>
              </a:rPr>
              <a:t>keine Annahme- oder Steuerpflicht</a:t>
            </a:r>
          </a:p>
          <a:p>
            <a:pPr lvl="0">
              <a:lnSpc>
                <a:spcPct val="103000"/>
              </a:lnSpc>
              <a:spcAft>
                <a:spcPts val="600"/>
              </a:spcAft>
            </a:pPr>
            <a:r>
              <a:rPr sz="1680">
                <a:solidFill>
                  <a:srgbClr val="1D2A37"/>
                </a:solidFill>
                <a:latin typeface="Aptos"/>
              </a:rPr>
              <a:t>MiCA-/AML-/DSGVO-Gutachten und automatischer Sunset</a:t>
            </a:r>
          </a:p>
          <a:p>
            <a:pPr lvl="0" indent="0" marL="0">
              <a:lnSpc>
                <a:spcPct val="103000"/>
              </a:lnSpc>
              <a:spcAft>
                <a:spcPts val="600"/>
              </a:spcAft>
              <a:buNone/>
            </a:pPr>
            <a:r>
              <a:rPr b="1" sz="1680">
                <a:solidFill>
                  <a:srgbClr val="1D2A37"/>
                </a:solidFill>
                <a:latin typeface="Aptos"/>
              </a:rPr>
              <a:t>Volle Währungssouveränität</a:t>
            </a:r>
          </a:p>
          <a:p>
            <a:pPr lvl="0">
              <a:lnSpc>
                <a:spcPct val="103000"/>
              </a:lnSpc>
              <a:spcAft>
                <a:spcPts val="600"/>
              </a:spcAft>
            </a:pPr>
            <a:r>
              <a:rPr sz="1680">
                <a:solidFill>
                  <a:srgbClr val="1D2A37"/>
                </a:solidFill>
                <a:latin typeface="Aptos"/>
              </a:rPr>
              <a:t>Währungsgesetz, Steuerdenomination und Legal Tender</a:t>
            </a:r>
          </a:p>
          <a:p>
            <a:pPr lvl="0">
              <a:lnSpc>
                <a:spcPct val="103000"/>
              </a:lnSpc>
              <a:spcAft>
                <a:spcPts val="600"/>
              </a:spcAft>
            </a:pPr>
            <a:r>
              <a:rPr sz="1680">
                <a:solidFill>
                  <a:srgbClr val="1D2A37"/>
                </a:solidFill>
                <a:latin typeface="Aptos"/>
              </a:rPr>
              <a:t>Banken-, Bargeld- und Schuldenumstellung</a:t>
            </a:r>
          </a:p>
          <a:p>
            <a:pPr lvl="0" indent="0" marL="0">
              <a:lnSpc>
                <a:spcPct val="103000"/>
              </a:lnSpc>
              <a:spcAft>
                <a:spcPts val="600"/>
              </a:spcAft>
              <a:buNone/>
            </a:pPr>
            <a:r>
              <a:rPr b="1" sz="1680">
                <a:solidFill>
                  <a:srgbClr val="1D2A37"/>
                </a:solidFill>
                <a:latin typeface="Aptos"/>
              </a:rPr>
              <a:t>Separate Grundentscheidung; keine Austrittsempfehlung.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185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8872" y="0"/>
            <a:ext cx="36576" cy="5143500"/>
          </a:xfrm>
          <a:prstGeom prst="rect">
            <a:avLst/>
          </a:prstGeom>
          <a:solidFill>
            <a:srgbClr val="199D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1060704"/>
            <a:ext cx="1234440" cy="41148"/>
          </a:xfrm>
          <a:prstGeom prst="rect">
            <a:avLst/>
          </a:prstGeom>
          <a:solidFill>
            <a:srgbClr val="DAA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4800600"/>
            <a:ext cx="71323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19" b="1">
                <a:solidFill>
                  <a:srgbClr val="5B6C7C"/>
                </a:solidFill>
                <a:latin typeface="Aptos"/>
              </a:rPr>
              <a:t>ΔΡΑΧ  ·  INSTITUTIONEN &amp; RECHTSRAHMEN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94192" y="4754880"/>
            <a:ext cx="320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185C9A"/>
                </a:solidFill>
                <a:latin typeface="Aptos"/>
              </a:rPr>
              <a:t>12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3232" y="402336"/>
            <a:ext cx="7818120" cy="576072"/>
          </a:xfrm>
        </p:spPr>
        <p:txBody>
          <a:bodyPr lIns="0" rIns="0">
            <a:normAutofit/>
          </a:bodyPr>
          <a:lstStyle/>
          <a:p>
            <a:pPr lvl="0" indent="0" marL="0">
              <a:spcAft>
                <a:spcPts val="0"/>
              </a:spcAft>
              <a:buNone/>
            </a:pPr>
            <a:r>
              <a:rPr sz="2400" b="1">
                <a:solidFill>
                  <a:srgbClr val="0B1F33"/>
                </a:solidFill>
                <a:latin typeface="Aptos Display"/>
              </a:rPr>
              <a:t>Die stärksten Einwände bleiben im Modell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49808" y="1298448"/>
            <a:ext cx="7955279" cy="3328416"/>
          </a:xfrm>
        </p:spPr>
        <p:txBody>
          <a:bodyPr lIns="36576" rIns="36576" tIns="18288" bIns="18288" anchor="t">
            <a:normAutofit/>
          </a:bodyPr>
          <a:lstStyle/>
          <a:p>
            <a:pPr lvl="0">
              <a:lnSpc>
                <a:spcPct val="103000"/>
              </a:lnSpc>
              <a:spcAft>
                <a:spcPts val="600"/>
              </a:spcAft>
            </a:pPr>
            <a:r>
              <a:rPr b="1" sz="1680">
                <a:solidFill>
                  <a:srgbClr val="1D2A37"/>
                </a:solidFill>
                <a:latin typeface="Aptos"/>
              </a:rPr>
              <a:t>Deflation:</a:t>
            </a:r>
            <a:r>
              <a:rPr sz="1680">
                <a:solidFill>
                  <a:srgbClr val="1D2A37"/>
                </a:solidFill>
                <a:latin typeface="Aptos"/>
              </a:rPr>
              <a:t> fixe Menge kann reale Schuldenlast erhöhen.</a:t>
            </a:r>
          </a:p>
          <a:p>
            <a:pPr lvl="0">
              <a:lnSpc>
                <a:spcPct val="103000"/>
              </a:lnSpc>
              <a:spcAft>
                <a:spcPts val="600"/>
              </a:spcAft>
            </a:pPr>
            <a:r>
              <a:rPr b="1" sz="1680">
                <a:solidFill>
                  <a:srgbClr val="1D2A37"/>
                </a:solidFill>
                <a:latin typeface="Aptos"/>
              </a:rPr>
              <a:t>Kreditknappheit:</a:t>
            </a:r>
            <a:r>
              <a:rPr sz="1680">
                <a:solidFill>
                  <a:srgbClr val="1D2A37"/>
                </a:solidFill>
                <a:latin typeface="Aptos"/>
              </a:rPr>
              <a:t> Narrow Banking verteuert Finanzierung.</a:t>
            </a:r>
          </a:p>
          <a:p>
            <a:pPr lvl="0">
              <a:lnSpc>
                <a:spcPct val="103000"/>
              </a:lnSpc>
              <a:spcAft>
                <a:spcPts val="600"/>
              </a:spcAft>
            </a:pPr>
            <a:r>
              <a:rPr b="1" sz="1680">
                <a:solidFill>
                  <a:srgbClr val="1D2A37"/>
                </a:solidFill>
                <a:latin typeface="Aptos"/>
              </a:rPr>
              <a:t>Kaspa-Abhängigkeit:</a:t>
            </a:r>
            <a:r>
              <a:rPr sz="1680">
                <a:solidFill>
                  <a:srgbClr val="1D2A37"/>
                </a:solidFill>
                <a:latin typeface="Aptos"/>
              </a:rPr>
              <a:t> fremdes Netzwerk ist keine vollständige Autarkie.</a:t>
            </a:r>
          </a:p>
          <a:p>
            <a:pPr lvl="0">
              <a:lnSpc>
                <a:spcPct val="103000"/>
              </a:lnSpc>
              <a:spcAft>
                <a:spcPts val="600"/>
              </a:spcAft>
            </a:pPr>
            <a:r>
              <a:rPr b="1" sz="1680">
                <a:solidFill>
                  <a:srgbClr val="1D2A37"/>
                </a:solidFill>
                <a:latin typeface="Aptos"/>
              </a:rPr>
              <a:t>Bargeldbetrug:</a:t>
            </a:r>
            <a:r>
              <a:rPr sz="1680">
                <a:solidFill>
                  <a:srgbClr val="1D2A37"/>
                </a:solidFill>
                <a:latin typeface="Aptos"/>
              </a:rPr>
              <a:t> physischer Arm bleibt institutionell.</a:t>
            </a:r>
          </a:p>
          <a:p>
            <a:pPr lvl="0">
              <a:lnSpc>
                <a:spcPct val="103000"/>
              </a:lnSpc>
              <a:spcAft>
                <a:spcPts val="600"/>
              </a:spcAft>
            </a:pPr>
            <a:r>
              <a:rPr b="1" sz="1680">
                <a:solidFill>
                  <a:srgbClr val="1D2A37"/>
                </a:solidFill>
                <a:latin typeface="Aptos"/>
              </a:rPr>
              <a:t>Offline Double Spend:</a:t>
            </a:r>
            <a:r>
              <a:rPr sz="1680">
                <a:solidFill>
                  <a:srgbClr val="1D2A37"/>
                </a:solidFill>
                <a:latin typeface="Aptos"/>
              </a:rPr>
              <a:t> Verlust wird begrenzt, nicht eliminiert.</a:t>
            </a:r>
          </a:p>
          <a:p>
            <a:pPr lvl="0">
              <a:lnSpc>
                <a:spcPct val="103000"/>
              </a:lnSpc>
              <a:spcAft>
                <a:spcPts val="600"/>
              </a:spcAft>
            </a:pPr>
            <a:r>
              <a:rPr b="1" sz="1680">
                <a:solidFill>
                  <a:srgbClr val="1D2A37"/>
                </a:solidFill>
                <a:latin typeface="Aptos"/>
              </a:rPr>
              <a:t>Staatlicher Druck:</a:t>
            </a:r>
            <a:r>
              <a:rPr sz="1680">
                <a:solidFill>
                  <a:srgbClr val="1D2A37"/>
                </a:solidFill>
                <a:latin typeface="Aptos"/>
              </a:rPr>
              <a:t> Technik verhindert Mint/Freeze, nicht Verbote oder Marktblockaden.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185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8872" y="0"/>
            <a:ext cx="36576" cy="5143500"/>
          </a:xfrm>
          <a:prstGeom prst="rect">
            <a:avLst/>
          </a:prstGeom>
          <a:solidFill>
            <a:srgbClr val="199D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1060704"/>
            <a:ext cx="1234440" cy="41148"/>
          </a:xfrm>
          <a:prstGeom prst="rect">
            <a:avLst/>
          </a:prstGeom>
          <a:solidFill>
            <a:srgbClr val="DAA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4800600"/>
            <a:ext cx="71323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19" b="1">
                <a:solidFill>
                  <a:srgbClr val="5B6C7C"/>
                </a:solidFill>
                <a:latin typeface="Aptos"/>
              </a:rPr>
              <a:t>ΔΡΑΧ  ·  RISIKEN, PHASE 0 &amp; BESCHLUSS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94192" y="4754880"/>
            <a:ext cx="320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185C9A"/>
                </a:solidFill>
                <a:latin typeface="Aptos"/>
              </a:rPr>
              <a:t>13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3232" y="402336"/>
            <a:ext cx="7818120" cy="576072"/>
          </a:xfrm>
        </p:spPr>
        <p:txBody>
          <a:bodyPr lIns="0" rIns="0">
            <a:normAutofit/>
          </a:bodyPr>
          <a:lstStyle/>
          <a:p>
            <a:pPr lvl="0" indent="0" marL="0">
              <a:spcAft>
                <a:spcPts val="0"/>
              </a:spcAft>
              <a:buNone/>
            </a:pPr>
            <a:r>
              <a:rPr sz="2400" b="1">
                <a:solidFill>
                  <a:srgbClr val="0B1F33"/>
                </a:solidFill>
                <a:latin typeface="Aptos Display"/>
              </a:rPr>
              <a:t>Phase 0 liefert Beweise statt Marktwert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749808" y="1371600"/>
          <a:ext cx="7973568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spcAft>
                          <a:spcPts val="0"/>
                        </a:spcAft>
                        <a:buNone/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Aptos"/>
                        </a:rPr>
                        <a:t>Monat</a:t>
                      </a:r>
                    </a:p>
                  </a:txBody>
                  <a:tcPr marL="73152" marR="73152" marT="36576" marB="36576">
                    <a:solidFill>
                      <a:srgbClr val="185C9A"/>
                    </a:solidFill>
                  </a:tcPr>
                </a:tc>
                <a:tc>
                  <a:txBody>
                    <a:bodyPr/>
                    <a:lstStyle/>
                    <a:p>
                      <a:pPr lvl="0" indent="0" marL="0">
                        <a:spcAft>
                          <a:spcPts val="0"/>
                        </a:spcAft>
                        <a:buNone/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Aptos"/>
                        </a:rPr>
                        <a:t>Nachweis</a:t>
                      </a:r>
                    </a:p>
                  </a:txBody>
                  <a:tcPr marL="73152" marR="73152" marT="36576" marB="36576">
                    <a:solidFill>
                      <a:srgbClr val="185C9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spcAft>
                          <a:spcPts val="0"/>
                        </a:spcAft>
                        <a:buNone/>
                      </a:pPr>
                      <a:r>
                        <a:rPr sz="1250" b="0">
                          <a:solidFill>
                            <a:srgbClr val="1D2A37"/>
                          </a:solidFill>
                          <a:latin typeface="Aptos"/>
                        </a:rPr>
                        <a:t>0-3</a:t>
                      </a:r>
                    </a:p>
                  </a:txBody>
                  <a:tcPr marL="73152" marR="73152" marT="36576" marB="36576">
                    <a:solidFill>
                      <a:srgbClr val="E2EDF7"/>
                    </a:solidFill>
                  </a:tcPr>
                </a:tc>
                <a:tc>
                  <a:txBody>
                    <a:bodyPr/>
                    <a:lstStyle/>
                    <a:p>
                      <a:pPr lvl="0" indent="0" marL="0">
                        <a:spcAft>
                          <a:spcPts val="0"/>
                        </a:spcAft>
                        <a:buNone/>
                      </a:pPr>
                      <a:r>
                        <a:rPr sz="1250" b="0">
                          <a:solidFill>
                            <a:srgbClr val="1D2A37"/>
                          </a:solidFill>
                          <a:latin typeface="Aptos"/>
                        </a:rPr>
                        <a:t>Rechtsfragen, Invarianten, Testnet-Umgebung</a:t>
                      </a:r>
                    </a:p>
                  </a:txBody>
                  <a:tcPr marL="73152" marR="73152" marT="36576" marB="36576">
                    <a:solidFill>
                      <a:srgbClr val="E2ED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spcAft>
                          <a:spcPts val="0"/>
                        </a:spcAft>
                        <a:buNone/>
                      </a:pPr>
                      <a:r>
                        <a:rPr sz="1250" b="0">
                          <a:solidFill>
                            <a:srgbClr val="1D2A37"/>
                          </a:solidFill>
                          <a:latin typeface="Aptos"/>
                        </a:rPr>
                        <a:t>4-6</a:t>
                      </a:r>
                    </a:p>
                  </a:txBody>
                  <a:tcPr marL="73152" marR="73152" marT="36576" marB="36576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lvl="0" indent="0" marL="0">
                        <a:spcAft>
                          <a:spcPts val="0"/>
                        </a:spcAft>
                        <a:buNone/>
                      </a:pPr>
                      <a:r>
                        <a:rPr sz="1250" b="0">
                          <a:solidFill>
                            <a:srgbClr val="1D2A37"/>
                          </a:solidFill>
                          <a:latin typeface="Aptos"/>
                        </a:rPr>
                        <a:t>Constitution/Bearer PoC und Supply-Indexer</a:t>
                      </a:r>
                    </a:p>
                  </a:txBody>
                  <a:tcPr marL="73152" marR="73152" marT="36576" marB="36576">
                    <a:solidFill>
                      <a:srgbClr val="F7F9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spcAft>
                          <a:spcPts val="0"/>
                        </a:spcAft>
                        <a:buNone/>
                      </a:pPr>
                      <a:r>
                        <a:rPr sz="1250" b="0">
                          <a:solidFill>
                            <a:srgbClr val="1D2A37"/>
                          </a:solidFill>
                          <a:latin typeface="Aptos"/>
                        </a:rPr>
                        <a:t>7-9</a:t>
                      </a:r>
                    </a:p>
                  </a:txBody>
                  <a:tcPr marL="73152" marR="73152" marT="36576" marB="36576">
                    <a:solidFill>
                      <a:srgbClr val="E2EDF7"/>
                    </a:solidFill>
                  </a:tcPr>
                </a:tc>
                <a:tc>
                  <a:txBody>
                    <a:bodyPr/>
                    <a:lstStyle/>
                    <a:p>
                      <a:pPr lvl="0" indent="0" marL="0">
                        <a:spcAft>
                          <a:spcPts val="0"/>
                        </a:spcAft>
                        <a:buNone/>
                      </a:pPr>
                      <a:r>
                        <a:rPr sz="1250" b="0">
                          <a:solidFill>
                            <a:srgbClr val="1D2A37"/>
                          </a:solidFill>
                          <a:latin typeface="Aptos"/>
                        </a:rPr>
                        <a:t>CashLot, Offline-Labor, Zwischenentscheidung</a:t>
                      </a:r>
                    </a:p>
                  </a:txBody>
                  <a:tcPr marL="73152" marR="73152" marT="36576" marB="36576">
                    <a:solidFill>
                      <a:srgbClr val="E2ED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spcAft>
                          <a:spcPts val="0"/>
                        </a:spcAft>
                        <a:buNone/>
                      </a:pPr>
                      <a:r>
                        <a:rPr sz="1250" b="0">
                          <a:solidFill>
                            <a:srgbClr val="1D2A37"/>
                          </a:solidFill>
                          <a:latin typeface="Aptos"/>
                        </a:rPr>
                        <a:t>10-12</a:t>
                      </a:r>
                    </a:p>
                  </a:txBody>
                  <a:tcPr marL="73152" marR="73152" marT="36576" marB="36576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lvl="0" indent="0" marL="0">
                        <a:spcAft>
                          <a:spcPts val="0"/>
                        </a:spcAft>
                        <a:buNone/>
                      </a:pPr>
                      <a:r>
                        <a:rPr sz="1250" b="0">
                          <a:solidFill>
                            <a:srgbClr val="1D2A37"/>
                          </a:solidFill>
                          <a:latin typeface="Aptos"/>
                        </a:rPr>
                        <a:t>Angriffssimulation und Migrationstest</a:t>
                      </a:r>
                    </a:p>
                  </a:txBody>
                  <a:tcPr marL="73152" marR="73152" marT="36576" marB="36576">
                    <a:solidFill>
                      <a:srgbClr val="F7F9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spcAft>
                          <a:spcPts val="0"/>
                        </a:spcAft>
                        <a:buNone/>
                      </a:pPr>
                      <a:r>
                        <a:rPr sz="1250" b="0">
                          <a:solidFill>
                            <a:srgbClr val="1D2A37"/>
                          </a:solidFill>
                          <a:latin typeface="Aptos"/>
                        </a:rPr>
                        <a:t>13-15</a:t>
                      </a:r>
                    </a:p>
                  </a:txBody>
                  <a:tcPr marL="73152" marR="73152" marT="36576" marB="36576">
                    <a:solidFill>
                      <a:srgbClr val="E2EDF7"/>
                    </a:solidFill>
                  </a:tcPr>
                </a:tc>
                <a:tc>
                  <a:txBody>
                    <a:bodyPr/>
                    <a:lstStyle/>
                    <a:p>
                      <a:pPr lvl="0" indent="0" marL="0">
                        <a:spcAft>
                          <a:spcPts val="0"/>
                        </a:spcAft>
                        <a:buNone/>
                      </a:pPr>
                      <a:r>
                        <a:rPr sz="1250" b="0">
                          <a:solidFill>
                            <a:srgbClr val="1D2A37"/>
                          </a:solidFill>
                          <a:latin typeface="Aptos"/>
                        </a:rPr>
                        <a:t>integrierte wertlose Demo und Red Team</a:t>
                      </a:r>
                    </a:p>
                  </a:txBody>
                  <a:tcPr marL="73152" marR="73152" marT="36576" marB="36576">
                    <a:solidFill>
                      <a:srgbClr val="E2ED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spcAft>
                          <a:spcPts val="0"/>
                        </a:spcAft>
                        <a:buNone/>
                      </a:pPr>
                      <a:r>
                        <a:rPr sz="1250" b="0">
                          <a:solidFill>
                            <a:srgbClr val="1D2A37"/>
                          </a:solidFill>
                          <a:latin typeface="Aptos"/>
                        </a:rPr>
                        <a:t>16-18</a:t>
                      </a:r>
                    </a:p>
                  </a:txBody>
                  <a:tcPr marL="73152" marR="73152" marT="36576" marB="36576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lvl="0" indent="0" marL="0">
                        <a:spcAft>
                          <a:spcPts val="0"/>
                        </a:spcAft>
                        <a:buNone/>
                      </a:pPr>
                      <a:r>
                        <a:rPr sz="1250" b="0">
                          <a:solidFill>
                            <a:srgbClr val="1D2A37"/>
                          </a:solidFill>
                          <a:latin typeface="Aptos"/>
                        </a:rPr>
                        <a:t>Abschlussgutachten: Go/No-Go/Research-Only</a:t>
                      </a:r>
                    </a:p>
                  </a:txBody>
                  <a:tcPr marL="73152" marR="73152" marT="36576" marB="36576">
                    <a:solidFill>
                      <a:srgbClr val="F7F9FB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185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8872" y="0"/>
            <a:ext cx="36576" cy="5143500"/>
          </a:xfrm>
          <a:prstGeom prst="rect">
            <a:avLst/>
          </a:prstGeom>
          <a:solidFill>
            <a:srgbClr val="199D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13232" y="1060704"/>
            <a:ext cx="1234440" cy="41148"/>
          </a:xfrm>
          <a:prstGeom prst="rect">
            <a:avLst/>
          </a:prstGeom>
          <a:solidFill>
            <a:srgbClr val="DAA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4800600"/>
            <a:ext cx="71323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19" b="1">
                <a:solidFill>
                  <a:srgbClr val="5B6C7C"/>
                </a:solidFill>
                <a:latin typeface="Aptos"/>
              </a:rPr>
              <a:t>ΔΡΑΧ  ·  RISIKEN, PHASE 0 &amp; BESCHLUSS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94192" y="4754880"/>
            <a:ext cx="320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185C9A"/>
                </a:solidFill>
                <a:latin typeface="Aptos"/>
              </a:rPr>
              <a:t>14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3232" y="402336"/>
            <a:ext cx="7818120" cy="576072"/>
          </a:xfrm>
        </p:spPr>
        <p:txBody>
          <a:bodyPr lIns="0" rIns="0">
            <a:normAutofit/>
          </a:bodyPr>
          <a:lstStyle/>
          <a:p>
            <a:pPr lvl="0" indent="0" marL="0">
              <a:spcAft>
                <a:spcPts val="0"/>
              </a:spcAft>
              <a:buNone/>
            </a:pPr>
            <a:r>
              <a:rPr sz="2400" b="1">
                <a:solidFill>
                  <a:srgbClr val="0B1F33"/>
                </a:solidFill>
                <a:latin typeface="Aptos Display"/>
              </a:rPr>
              <a:t>Budget wird an harte Gates gebunden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49808" y="1298448"/>
            <a:ext cx="7955279" cy="3328416"/>
          </a:xfrm>
        </p:spPr>
        <p:txBody>
          <a:bodyPr lIns="36576" rIns="36576" tIns="18288" bIns="18288" anchor="t">
            <a:normAutofit/>
          </a:bodyPr>
          <a:lstStyle/>
          <a:p>
            <a:pPr lvl="0" indent="0" marL="0">
              <a:lnSpc>
                <a:spcPct val="103000"/>
              </a:lnSpc>
              <a:spcAft>
                <a:spcPts val="600"/>
              </a:spcAft>
              <a:buNone/>
            </a:pPr>
            <a:r>
              <a:rPr b="1" sz="1680">
                <a:solidFill>
                  <a:srgbClr val="1D2A37"/>
                </a:solidFill>
                <a:latin typeface="Aptos"/>
              </a:rPr>
              <a:t>0,95-1,65 Mio. Euro Gesamtkorridor · Freigabe gedeckelt auf 1,6 Mio. Euro</a:t>
            </a:r>
          </a:p>
          <a:p>
            <a:pPr lvl="0">
              <a:lnSpc>
                <a:spcPct val="103000"/>
              </a:lnSpc>
              <a:spcAft>
                <a:spcPts val="600"/>
              </a:spcAft>
            </a:pPr>
            <a:r>
              <a:rPr sz="1680">
                <a:solidFill>
                  <a:srgbClr val="1D2A37"/>
                </a:solidFill>
                <a:latin typeface="Aptos"/>
              </a:rPr>
              <a:t>Recht und Makro: 260-420 Tsd. Euro</a:t>
            </a:r>
          </a:p>
          <a:p>
            <a:pPr lvl="0">
              <a:lnSpc>
                <a:spcPct val="103000"/>
              </a:lnSpc>
              <a:spcAft>
                <a:spcPts val="600"/>
              </a:spcAft>
            </a:pPr>
            <a:r>
              <a:rPr sz="1680">
                <a:solidFill>
                  <a:srgbClr val="1D2A37"/>
                </a:solidFill>
                <a:latin typeface="Aptos"/>
              </a:rPr>
              <a:t>Covenant, Wallet und Indexer: 340-600 Tsd. Euro</a:t>
            </a:r>
          </a:p>
          <a:p>
            <a:pPr lvl="0">
              <a:lnSpc>
                <a:spcPct val="103000"/>
              </a:lnSpc>
              <a:spcAft>
                <a:spcPts val="600"/>
              </a:spcAft>
            </a:pPr>
            <a:r>
              <a:rPr sz="1680">
                <a:solidFill>
                  <a:srgbClr val="1D2A37"/>
                </a:solidFill>
                <a:latin typeface="Aptos"/>
              </a:rPr>
              <a:t>Offline und Bargeldprozess: 170-310 Tsd. Euro</a:t>
            </a:r>
          </a:p>
          <a:p>
            <a:pPr lvl="0">
              <a:lnSpc>
                <a:spcPct val="103000"/>
              </a:lnSpc>
              <a:spcAft>
                <a:spcPts val="600"/>
              </a:spcAft>
            </a:pPr>
            <a:r>
              <a:rPr sz="1680">
                <a:solidFill>
                  <a:srgbClr val="1D2A37"/>
                </a:solidFill>
                <a:latin typeface="Aptos"/>
              </a:rPr>
              <a:t>Reviews, Bug Bounty und Steuerung: 180-320 Tsd. Euro</a:t>
            </a:r>
          </a:p>
          <a:p>
            <a:pPr lvl="0" indent="0" marL="0">
              <a:lnSpc>
                <a:spcPct val="103000"/>
              </a:lnSpc>
              <a:spcAft>
                <a:spcPts val="600"/>
              </a:spcAft>
              <a:buNone/>
            </a:pPr>
            <a:r>
              <a:rPr b="1" sz="1680">
                <a:solidFill>
                  <a:srgbClr val="1D2A37"/>
                </a:solidFill>
                <a:latin typeface="Aptos"/>
              </a:rPr>
              <a:t>Stop:</a:t>
            </a:r>
            <a:r>
              <a:rPr sz="1680">
                <a:solidFill>
                  <a:srgbClr val="1D2A37"/>
                </a:solidFill>
                <a:latin typeface="Aptos"/>
              </a:rPr>
              <a:t> unklare Rechtsbasis, nicht beweisbare Mmax-Invariante, unreife Toolchain, untragbares Offline-/CashLot-Risiko oder umgehbarer Sunset.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185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8872" y="0"/>
            <a:ext cx="36576" cy="5143500"/>
          </a:xfrm>
          <a:prstGeom prst="rect">
            <a:avLst/>
          </a:prstGeom>
          <a:solidFill>
            <a:srgbClr val="199D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1060704"/>
            <a:ext cx="1234440" cy="41148"/>
          </a:xfrm>
          <a:prstGeom prst="rect">
            <a:avLst/>
          </a:prstGeom>
          <a:solidFill>
            <a:srgbClr val="DAA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4800600"/>
            <a:ext cx="71323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19" b="1">
                <a:solidFill>
                  <a:srgbClr val="5B6C7C"/>
                </a:solidFill>
                <a:latin typeface="Aptos"/>
              </a:rPr>
              <a:t>ΔΡΑΧ  ·  RISIKEN, PHASE 0 &amp; BESCHLUSS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94192" y="4754880"/>
            <a:ext cx="320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185C9A"/>
                </a:solidFill>
                <a:latin typeface="Aptos"/>
              </a:rPr>
              <a:t>15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3232" y="402336"/>
            <a:ext cx="7818120" cy="576072"/>
          </a:xfrm>
        </p:spPr>
        <p:txBody>
          <a:bodyPr lIns="0" rIns="0">
            <a:normAutofit/>
          </a:bodyPr>
          <a:lstStyle/>
          <a:p>
            <a:pPr lvl="0" indent="0" marL="0">
              <a:spcAft>
                <a:spcPts val="0"/>
              </a:spcAft>
              <a:buNone/>
            </a:pPr>
            <a:r>
              <a:rPr sz="2400" b="1">
                <a:solidFill>
                  <a:srgbClr val="0B1F33"/>
                </a:solidFill>
                <a:latin typeface="Aptos Display"/>
              </a:rPr>
              <a:t>Der beantragte Beschluss ist bewusst klein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49808" y="1298448"/>
            <a:ext cx="7955279" cy="3328416"/>
          </a:xfrm>
        </p:spPr>
        <p:txBody>
          <a:bodyPr lIns="36576" rIns="36576" tIns="18288" bIns="18288" anchor="t">
            <a:normAutofit/>
          </a:bodyPr>
          <a:lstStyle/>
          <a:p>
            <a:pPr lvl="0" indent="-342900" marL="342900">
              <a:lnSpc>
                <a:spcPct val="103000"/>
              </a:lnSpc>
              <a:spcAft>
                <a:spcPts val="600"/>
              </a:spcAft>
              <a:buAutoNum type="arabicPeriod"/>
            </a:pPr>
            <a:r>
              <a:rPr sz="1680">
                <a:solidFill>
                  <a:srgbClr val="1D2A37"/>
                </a:solidFill>
                <a:latin typeface="Aptos"/>
              </a:rPr>
              <a:t>Phase-0-Forschungsprogramm für maximal 18 Monate.</a:t>
            </a:r>
          </a:p>
          <a:p>
            <a:pPr lvl="0" indent="-342900" marL="342900">
              <a:lnSpc>
                <a:spcPct val="103000"/>
              </a:lnSpc>
              <a:spcAft>
                <a:spcPts val="600"/>
              </a:spcAft>
              <a:buAutoNum type="arabicPeriod"/>
            </a:pPr>
            <a:r>
              <a:rPr sz="1680">
                <a:solidFill>
                  <a:srgbClr val="1D2A37"/>
                </a:solidFill>
                <a:latin typeface="Aptos"/>
              </a:rPr>
              <a:t>Mittelobergrenze von 1,6 Mio. Euro.</a:t>
            </a:r>
          </a:p>
          <a:p>
            <a:pPr lvl="0" indent="-342900" marL="342900">
              <a:lnSpc>
                <a:spcPct val="103000"/>
              </a:lnSpc>
              <a:spcAft>
                <a:spcPts val="600"/>
              </a:spcAft>
              <a:buAutoNum type="arabicPeriod"/>
            </a:pPr>
            <a:r>
              <a:rPr sz="1680">
                <a:solidFill>
                  <a:srgbClr val="1D2A37"/>
                </a:solidFill>
                <a:latin typeface="Aptos"/>
              </a:rPr>
              <a:t>Nur Testnet, Simulation, Gutachten und offene Referenzsoftware.</a:t>
            </a:r>
          </a:p>
          <a:p>
            <a:pPr lvl="0" indent="-342900" marL="342900">
              <a:lnSpc>
                <a:spcPct val="103000"/>
              </a:lnSpc>
              <a:spcAft>
                <a:spcPts val="600"/>
              </a:spcAft>
              <a:buAutoNum type="arabicPeriod"/>
            </a:pPr>
            <a:r>
              <a:rPr sz="1680">
                <a:solidFill>
                  <a:srgbClr val="1D2A37"/>
                </a:solidFill>
                <a:latin typeface="Aptos"/>
              </a:rPr>
              <a:t>Zwischenentscheidung nach neun Monaten.</a:t>
            </a:r>
          </a:p>
          <a:p>
            <a:pPr lvl="0" indent="-342900" marL="342900">
              <a:lnSpc>
                <a:spcPct val="103000"/>
              </a:lnSpc>
              <a:spcAft>
                <a:spcPts val="600"/>
              </a:spcAft>
              <a:buAutoNum type="arabicPeriod"/>
            </a:pPr>
            <a:r>
              <a:rPr sz="1680">
                <a:solidFill>
                  <a:srgbClr val="1D2A37"/>
                </a:solidFill>
                <a:latin typeface="Aptos"/>
              </a:rPr>
              <a:t>Automatisches Ende ohne gesonderten Fortsetzungsbeschluss.</a:t>
            </a:r>
          </a:p>
          <a:p>
            <a:pPr lvl="0" indent="0" marL="0">
              <a:lnSpc>
                <a:spcPct val="103000"/>
              </a:lnSpc>
              <a:spcAft>
                <a:spcPts val="600"/>
              </a:spcAft>
              <a:buNone/>
            </a:pPr>
            <a:r>
              <a:rPr b="1" sz="1680">
                <a:solidFill>
                  <a:srgbClr val="1D2A37"/>
                </a:solidFill>
                <a:latin typeface="Aptos"/>
              </a:rPr>
              <a:t>Erfolg bedeutet eine belastbare staatliche Entscheidung - nicht Tokenpreis oder Marktkapitalisierung.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185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8872" y="0"/>
            <a:ext cx="36576" cy="5143500"/>
          </a:xfrm>
          <a:prstGeom prst="rect">
            <a:avLst/>
          </a:prstGeom>
          <a:solidFill>
            <a:srgbClr val="199D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1060704"/>
            <a:ext cx="1234440" cy="41148"/>
          </a:xfrm>
          <a:prstGeom prst="rect">
            <a:avLst/>
          </a:prstGeom>
          <a:solidFill>
            <a:srgbClr val="DAA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4800600"/>
            <a:ext cx="71323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19" b="1">
                <a:solidFill>
                  <a:srgbClr val="5B6C7C"/>
                </a:solidFill>
                <a:latin typeface="Aptos"/>
              </a:rPr>
              <a:t>ΔΡΑΧ  ·  RISIKEN, PHASE 0 &amp; BESCHLUSS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94192" y="4754880"/>
            <a:ext cx="320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185C9A"/>
                </a:solidFill>
                <a:latin typeface="Aptos"/>
              </a:rPr>
              <a:t>16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dig Δραχμή (ΔΡΑΧ) – ministerielle Machbarkeitsstudie</dc:title>
  <dc:creator>Vendetta Labs · Gio (Kaspartizan)</dc:creator>
  <cp:keywords/>
  <dcterms:created xsi:type="dcterms:W3CDTF">2026-09-01T12:19:06Z</dcterms:created>
  <dcterms:modified xsi:type="dcterms:W3CDTF">2026-09-01T12:19:06Z</dcterms:modified>
  <dc:subject>Phase-0-Entscheidungsvorlage</dc:subject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Öffentliche Forschungsfassung · 1. September 2026</vt:lpwstr>
  </property>
  <property fmtid="{D5CDD505-2E9C-101B-9397-08002B2CF9AE}" pid="3" name="subtitle">
    <vt:lpwstr>Machbarkeitsstudie für eine harte digitale und physische Rechnungseinheit</vt:lpwstr>
  </property>
</Properties>
</file>