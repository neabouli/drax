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3ca42af36d642ea" /><Relationship Type="http://schemas.openxmlformats.org/officeDocument/2006/relationships/extended-properties" Target="/docProps/app.xml" Id="R00020acd44884a2e" /><Relationship Type="http://schemas.openxmlformats.org/officeDocument/2006/relationships/officeDocument" Target="/ppt/presentation.xml" Id="R81b5f886598246a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871f554890346e4"/>
  </p:sldMasterIdLst>
  <p:notesMasterIdLst>
    <p:notesMasterId xmlns:r="http://schemas.openxmlformats.org/officeDocument/2006/relationships" r:id="Ref29093663884b98"/>
  </p:notesMasterIdLst>
  <p:sldIdLst>
    <p:sldId xmlns:r="http://schemas.openxmlformats.org/officeDocument/2006/relationships" id="256" r:id="R51a0d549767744e2"/>
    <p:sldId xmlns:r="http://schemas.openxmlformats.org/officeDocument/2006/relationships" id="257" r:id="R310d26616d2a47b6"/>
    <p:sldId xmlns:r="http://schemas.openxmlformats.org/officeDocument/2006/relationships" id="258" r:id="Rccfb459c76754f30"/>
    <p:sldId xmlns:r="http://schemas.openxmlformats.org/officeDocument/2006/relationships" id="259" r:id="R2888ce109f2f4180"/>
    <p:sldId xmlns:r="http://schemas.openxmlformats.org/officeDocument/2006/relationships" id="260" r:id="R79ae699800374de1"/>
    <p:sldId xmlns:r="http://schemas.openxmlformats.org/officeDocument/2006/relationships" id="261" r:id="R4997fd9e36ac4e05"/>
    <p:sldId xmlns:r="http://schemas.openxmlformats.org/officeDocument/2006/relationships" id="262" r:id="Rb304738143204cb8"/>
    <p:sldId xmlns:r="http://schemas.openxmlformats.org/officeDocument/2006/relationships" id="263" r:id="Ra467557692934af4"/>
    <p:sldId xmlns:r="http://schemas.openxmlformats.org/officeDocument/2006/relationships" id="264" r:id="Rfa2219f6e3524b68"/>
    <p:sldId xmlns:r="http://schemas.openxmlformats.org/officeDocument/2006/relationships" id="265" r:id="Re3ebf069ed0f45bc"/>
    <p:sldId xmlns:r="http://schemas.openxmlformats.org/officeDocument/2006/relationships" id="266" r:id="R4d653e53ca574ae7"/>
    <p:sldId xmlns:r="http://schemas.openxmlformats.org/officeDocument/2006/relationships" id="267" r:id="R52352be603dc433e"/>
    <p:sldId xmlns:r="http://schemas.openxmlformats.org/officeDocument/2006/relationships" id="268" r:id="Rcee626623e104a88"/>
    <p:sldId xmlns:r="http://schemas.openxmlformats.org/officeDocument/2006/relationships" id="269" r:id="R8bfdba68f27d4014"/>
    <p:sldId xmlns:r="http://schemas.openxmlformats.org/officeDocument/2006/relationships" id="270" r:id="Rca0dde7c83524330"/>
    <p:sldId xmlns:r="http://schemas.openxmlformats.org/officeDocument/2006/relationships" id="271" r:id="Rd989a1da6e3a457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1e16348a1424b93" /><Relationship Type="http://schemas.openxmlformats.org/officeDocument/2006/relationships/slideMaster" Target="/ppt/slideMasters/slideMaster1.xml" Id="R9871f554890346e4" /><Relationship Type="http://schemas.openxmlformats.org/officeDocument/2006/relationships/notesMaster" Target="/ppt/notesMasters/notesMaster1.xml" Id="Ref29093663884b98" /><Relationship Type="http://schemas.openxmlformats.org/officeDocument/2006/relationships/presProps" Target="/ppt/presProps.xml" Id="R2ef365593c5147b8" /><Relationship Type="http://schemas.openxmlformats.org/officeDocument/2006/relationships/tableStyles" Target="/ppt/tableStyles.xml" Id="Rfbf285f4d61041fd" /><Relationship Type="http://schemas.openxmlformats.org/officeDocument/2006/relationships/slide" Target="/ppt/slides/slide1.xml" Id="R51a0d549767744e2" /><Relationship Type="http://schemas.openxmlformats.org/officeDocument/2006/relationships/slide" Target="/ppt/slides/slide2.xml" Id="R310d26616d2a47b6" /><Relationship Type="http://schemas.openxmlformats.org/officeDocument/2006/relationships/slide" Target="/ppt/slides/slide3.xml" Id="Rccfb459c76754f30" /><Relationship Type="http://schemas.openxmlformats.org/officeDocument/2006/relationships/slide" Target="/ppt/slides/slide4.xml" Id="R2888ce109f2f4180" /><Relationship Type="http://schemas.openxmlformats.org/officeDocument/2006/relationships/slide" Target="/ppt/slides/slide5.xml" Id="R79ae699800374de1" /><Relationship Type="http://schemas.openxmlformats.org/officeDocument/2006/relationships/slide" Target="/ppt/slides/slide6.xml" Id="R4997fd9e36ac4e05" /><Relationship Type="http://schemas.openxmlformats.org/officeDocument/2006/relationships/slide" Target="/ppt/slides/slide7.xml" Id="Rb304738143204cb8" /><Relationship Type="http://schemas.openxmlformats.org/officeDocument/2006/relationships/slide" Target="/ppt/slides/slide8.xml" Id="Ra467557692934af4" /><Relationship Type="http://schemas.openxmlformats.org/officeDocument/2006/relationships/slide" Target="/ppt/slides/slide9.xml" Id="Rfa2219f6e3524b68" /><Relationship Type="http://schemas.openxmlformats.org/officeDocument/2006/relationships/slide" Target="/ppt/slides/slide10.xml" Id="Re3ebf069ed0f45bc" /><Relationship Type="http://schemas.openxmlformats.org/officeDocument/2006/relationships/slide" Target="/ppt/slides/slide11.xml" Id="R4d653e53ca574ae7" /><Relationship Type="http://schemas.openxmlformats.org/officeDocument/2006/relationships/slide" Target="/ppt/slides/slide12.xml" Id="R52352be603dc433e" /><Relationship Type="http://schemas.openxmlformats.org/officeDocument/2006/relationships/slide" Target="/ppt/slides/slide13.xml" Id="Rcee626623e104a88" /><Relationship Type="http://schemas.openxmlformats.org/officeDocument/2006/relationships/slide" Target="/ppt/slides/slide14.xml" Id="R8bfdba68f27d4014" /><Relationship Type="http://schemas.openxmlformats.org/officeDocument/2006/relationships/slide" Target="/ppt/slides/slide15.xml" Id="Rca0dde7c83524330" /><Relationship Type="http://schemas.openxmlformats.org/officeDocument/2006/relationships/slide" Target="/ppt/slides/slide16.xml" Id="Rd989a1da6e3a457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782f770e2e04fa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3f44547e23a4526" /><Relationship Type="http://schemas.openxmlformats.org/officeDocument/2006/relationships/notesMaster" Target="/ppt/notesMasters/notesMaster1.xml" Id="Ra9339792d9974b2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f9dd715f8314f73" /><Relationship Type="http://schemas.openxmlformats.org/officeDocument/2006/relationships/notesMaster" Target="/ppt/notesMasters/notesMaster1.xml" Id="Rf0d3a137be97478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ea923b3edc954303" /><Relationship Type="http://schemas.openxmlformats.org/officeDocument/2006/relationships/notesMaster" Target="/ppt/notesMasters/notesMaster1.xml" Id="Raee02dc6ab9f469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05f3a5f3e5042c2" /><Relationship Type="http://schemas.openxmlformats.org/officeDocument/2006/relationships/notesMaster" Target="/ppt/notesMasters/notesMaster1.xml" Id="Ra5c356e57f96476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12b08f3623d492a" /><Relationship Type="http://schemas.openxmlformats.org/officeDocument/2006/relationships/notesMaster" Target="/ppt/notesMasters/notesMaster1.xml" Id="R63592e92d6a44b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7bb690276944a24" /><Relationship Type="http://schemas.openxmlformats.org/officeDocument/2006/relationships/notesMaster" Target="/ppt/notesMasters/notesMaster1.xml" Id="Rda97fb2116b64bf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27afe453b94f34" /><Relationship Type="http://schemas.openxmlformats.org/officeDocument/2006/relationships/notesMaster" Target="/ppt/notesMasters/notesMaster1.xml" Id="Rf8be747ad76645b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778c7c3e8ce4f19" /><Relationship Type="http://schemas.openxmlformats.org/officeDocument/2006/relationships/notesMaster" Target="/ppt/notesMasters/notesMaster1.xml" Id="R1e2a144f421243b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9006aff00c84755" /><Relationship Type="http://schemas.openxmlformats.org/officeDocument/2006/relationships/notesMaster" Target="/ppt/notesMasters/notesMaster1.xml" Id="Rfa788e8ce1f94653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21bbcf4db184fd2" /><Relationship Type="http://schemas.openxmlformats.org/officeDocument/2006/relationships/notesMaster" Target="/ppt/notesMasters/notesMaster1.xml" Id="R666062424d25471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14f604c33cc483c" /><Relationship Type="http://schemas.openxmlformats.org/officeDocument/2006/relationships/notesMaster" Target="/ppt/notesMasters/notesMaster1.xml" Id="R73468d296fba46a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b6434df0f6984ce2" /><Relationship Type="http://schemas.openxmlformats.org/officeDocument/2006/relationships/notesMaster" Target="/ppt/notesMasters/notesMaster1.xml" Id="R1ee1d5f405b44622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b84d6512820441dd" /><Relationship Type="http://schemas.openxmlformats.org/officeDocument/2006/relationships/notesMaster" Target="/ppt/notesMasters/notesMaster1.xml" Id="Rc2de8f5345a24953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7ee6dcb22b42ed" /><Relationship Type="http://schemas.openxmlformats.org/officeDocument/2006/relationships/notesMaster" Target="/ppt/notesMasters/notesMaster1.xml" Id="R3a97956906584fd5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d5e59aa278484b6c" /><Relationship Type="http://schemas.openxmlformats.org/officeDocument/2006/relationships/notesMaster" Target="/ppt/notesMasters/notesMaster1.xml" Id="Rfb55ef9e8b8b4bb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94bf09c6a5284511" /><Relationship Type="http://schemas.openxmlformats.org/officeDocument/2006/relationships/notesMaster" Target="/ppt/notesMasters/notesMaster1.xml" Id="R73b1fbbce56e435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κεφάλαια 0, 11 και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κεφάλαια 2, 4 και 5.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κεφάλαιο 2.2 και Παράρτημα Α.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https://docs.kaspa.org/toccata</a:t>
            </a:r>
          </a:p>
          <a:p xmlns:a="http://schemas.openxmlformats.org/drawingml/2006/main">
            <a:r>
              <a:t>- https://docs.kaspa.org/toccata/agent-brief</a:t>
            </a:r>
          </a:p>
          <a:p xmlns:a="http://schemas.openxmlformats.org/drawingml/2006/main">
            <a:r>
              <a:t>- https://github.com/kaspanet/silverscript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κεφάλαιο 3.</a:t>
            </a:r>
          </a:p>
          <a:p xmlns:a="http://schemas.openxmlformats.org/drawingml/2006/main">
            <a:r>
              <a:t>- https://docs.kaspa.org/toccata/agent-brief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κεφάλαιο 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κεφάλαιο 5.</a:t>
            </a:r>
          </a:p>
          <a:p xmlns:a="http://schemas.openxmlformats.org/drawingml/2006/main">
            <a:r>
              <a:t>- https://www.ecb.europa.eu/euro/digital_euro/pilot/html/ecb.faq-digital-euro-pilot.de.html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κεφάλαιο 7.</a:t>
            </a:r>
          </a:p>
          <a:p xmlns:a="http://schemas.openxmlformats.org/drawingml/2006/main">
            <a:r>
              <a:t>- Μεθοδολογική αναφορά: χρονικά λήγουσες έκτακτες εξουσίες από το έργο 1kUSD.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κεφάλαιο 6.</a:t>
            </a:r>
          </a:p>
          <a:p xmlns:a="http://schemas.openxmlformats.org/drawingml/2006/main">
            <a:r>
              <a:t>- https://www.elibrary.imf.org/view/journals/007/1999/009/article-A004-en.xml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https://unctad.org/system/files/official-document/rmt2025overview_en.pdf</a:t>
            </a:r>
          </a:p>
          <a:p xmlns:a="http://schemas.openxmlformats.org/drawingml/2006/main">
            <a:r>
              <a:t>- https://www.bankofgreece.gr/en/news-and-media/press-office/news-list/news?announcement=27a32287-1c58-44e7-b900-2c92c53ffe9c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https://eur-lex.europa.eu/eli/treaty/tfeu_2012/art_128/oj/deu</a:t>
            </a:r>
          </a:p>
          <a:p xmlns:a="http://schemas.openxmlformats.org/drawingml/2006/main">
            <a:r>
              <a:t>- https://eur-lex.europa.eu/eli/reg/1998/974/oj</a:t>
            </a:r>
          </a:p>
          <a:p xmlns:a="http://schemas.openxmlformats.org/drawingml/2006/main">
            <a:r>
              <a:t>- https://eur-lex.europa.eu/eli/reg/2023/1114/oj</a:t>
            </a:r>
          </a:p>
          <a:p xmlns:a="http://schemas.openxmlformats.org/drawingml/2006/main">
            <a:r>
              <a:t>- https://www.bankofgreece.gr/en/main-tasks/supervision/regulation-eu-2023_1114-on-markets-in-crypto-assets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κεφάλαια 1.3, 6, 10 και 17.</a:t>
            </a:r>
          </a:p>
          <a:p xmlns:a="http://schemas.openxmlformats.org/drawingml/2006/main">
            <a:r>
              <a:t>- https://www.bis.org/publications/aer-2025/next-generation-monetary-financial-system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κεφάλαιο 11.3.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κεφάλαια 11.1 και 11.4.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Πλήρης λευκή βίβλος ΔΡΑΧ, κεφάλαιο 12.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016acf944844fd0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0710a1a6404185" /><Relationship Type="http://schemas.openxmlformats.org/officeDocument/2006/relationships/slideLayout" Target="/ppt/slideLayouts/slideLayout1.xml" Id="Re7187872bf834db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7187872bf834db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6c29f98d8d4aca" /><Relationship Type="http://schemas.openxmlformats.org/officeDocument/2006/relationships/image" Target="/ppt/media/image.jpeg" Id="R8195e5e697884890" /><Relationship Type="http://schemas.openxmlformats.org/officeDocument/2006/relationships/notesSlide" Target="/ppt/notesSlides/notesSlide1.xml" Id="Rba53976a997e4bd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f78d7c70874c14" /><Relationship Type="http://schemas.openxmlformats.org/officeDocument/2006/relationships/image" Target="/ppt/media/image2.jpeg" Id="R675e26de21444b56" /><Relationship Type="http://schemas.openxmlformats.org/officeDocument/2006/relationships/notesSlide" Target="/ppt/notesSlides/notesSlide2.xml" Id="R148d33910a28497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acb545d39e4130" /><Relationship Type="http://schemas.openxmlformats.org/officeDocument/2006/relationships/image" Target="/ppt/media/image3.jpeg" Id="Rf41d5c4573db41ca" /><Relationship Type="http://schemas.openxmlformats.org/officeDocument/2006/relationships/notesSlide" Target="/ppt/notesSlides/notesSlide3.xml" Id="R153b971de6434a6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b3144b86114cf1" /><Relationship Type="http://schemas.openxmlformats.org/officeDocument/2006/relationships/image" Target="/ppt/media/image4.jpeg" Id="Rd4e6cb32e183439d" /><Relationship Type="http://schemas.openxmlformats.org/officeDocument/2006/relationships/notesSlide" Target="/ppt/notesSlides/notesSlide4.xml" Id="R0757220f8f56411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1532800825446a" /><Relationship Type="http://schemas.openxmlformats.org/officeDocument/2006/relationships/image" Target="/ppt/media/image5.jpeg" Id="R791e3133fbdb430d" /><Relationship Type="http://schemas.openxmlformats.org/officeDocument/2006/relationships/notesSlide" Target="/ppt/notesSlides/notesSlide5.xml" Id="Re5e75ac724c544f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c985058c354b0e" /><Relationship Type="http://schemas.openxmlformats.org/officeDocument/2006/relationships/image" Target="/ppt/media/image6.jpeg" Id="R158c3a9f758c4ea4" /><Relationship Type="http://schemas.openxmlformats.org/officeDocument/2006/relationships/notesSlide" Target="/ppt/notesSlides/notesSlide6.xml" Id="R1e4b62d9ed7d463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91ec1c9b1e48db" /><Relationship Type="http://schemas.openxmlformats.org/officeDocument/2006/relationships/image" Target="/ppt/media/image7.jpeg" Id="R3fe89a9457ae4fd2" /><Relationship Type="http://schemas.openxmlformats.org/officeDocument/2006/relationships/notesSlide" Target="/ppt/notesSlides/notesSlide7.xml" Id="R2c4fca4ca06f4ab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7640a6fa7a4955" /><Relationship Type="http://schemas.openxmlformats.org/officeDocument/2006/relationships/image" Target="/ppt/media/image8.jpeg" Id="R6599e7e7142e489b" /><Relationship Type="http://schemas.openxmlformats.org/officeDocument/2006/relationships/notesSlide" Target="/ppt/notesSlides/notesSlide8.xml" Id="Rca4b76e2dece4ef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d04fee56d246f9" /><Relationship Type="http://schemas.openxmlformats.org/officeDocument/2006/relationships/image" Target="/ppt/media/image9.jpeg" Id="R2dc8a788321a43ea" /><Relationship Type="http://schemas.openxmlformats.org/officeDocument/2006/relationships/notesSlide" Target="/ppt/notesSlides/notesSlide9.xml" Id="R8865627e4b804194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e5ec8b527449c7" /><Relationship Type="http://schemas.openxmlformats.org/officeDocument/2006/relationships/image" Target="/ppt/media/image10.jpeg" Id="R9a6ca0df667846c4" /><Relationship Type="http://schemas.openxmlformats.org/officeDocument/2006/relationships/notesSlide" Target="/ppt/notesSlides/notesSlide10.xml" Id="R7175ce44cff743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47f317a434d07" /><Relationship Type="http://schemas.openxmlformats.org/officeDocument/2006/relationships/image" Target="/ppt/media/image11.jpeg" Id="R6c342f864ccc4822" /><Relationship Type="http://schemas.openxmlformats.org/officeDocument/2006/relationships/notesSlide" Target="/ppt/notesSlides/notesSlide11.xml" Id="R3eb3fa9803ef4cf1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e9ac70be654f3e" /><Relationship Type="http://schemas.openxmlformats.org/officeDocument/2006/relationships/image" Target="/ppt/media/image12.jpeg" Id="R4ba57d14da5347f2" /><Relationship Type="http://schemas.openxmlformats.org/officeDocument/2006/relationships/notesSlide" Target="/ppt/notesSlides/notesSlide12.xml" Id="Rad955a302d814d8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5de4f6f7f74894" /><Relationship Type="http://schemas.openxmlformats.org/officeDocument/2006/relationships/image" Target="/ppt/media/image13.jpeg" Id="Rf023698b9e044ce7" /><Relationship Type="http://schemas.openxmlformats.org/officeDocument/2006/relationships/notesSlide" Target="/ppt/notesSlides/notesSlide13.xml" Id="Ra19c2fed3f9644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d05d6a369614e98" /><Relationship Type="http://schemas.openxmlformats.org/officeDocument/2006/relationships/image" Target="/ppt/media/image14.jpeg" Id="Rdbb556914fc74779" /><Relationship Type="http://schemas.openxmlformats.org/officeDocument/2006/relationships/notesSlide" Target="/ppt/notesSlides/notesSlide14.xml" Id="Rb3ba4c65b7764137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39a3adb060f4299" /><Relationship Type="http://schemas.openxmlformats.org/officeDocument/2006/relationships/image" Target="/ppt/media/image15.jpeg" Id="R3a0e6613e9254ab6" /><Relationship Type="http://schemas.openxmlformats.org/officeDocument/2006/relationships/notesSlide" Target="/ppt/notesSlides/notesSlide15.xml" Id="R307d6f03ed7c421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7839ea9c3b4b62" /><Relationship Type="http://schemas.openxmlformats.org/officeDocument/2006/relationships/image" Target="/ppt/media/image16.jpeg" Id="R95c6e40437fb4419" /><Relationship Type="http://schemas.openxmlformats.org/officeDocument/2006/relationships/notesSlide" Target="/ppt/notesSlides/notesSlide16.xml" Id="R0f5cf169e5f54b5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426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006CA-AD13-4DA3-83F6-D67DB6034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FB1CC2-BDBB-4675-86A6-9E5A1E63A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0"/>
            <a:ext cx="3619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D223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E37488-C868-42C2-AD55-9A8F8AFE8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1500"/>
            <a:ext cx="619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496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75" b="1">
                <a:solidFill>
                  <a:srgbClr val="F0C8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0C873"/>
                </a:solidFill>
                <a:latin typeface="Aptos"/>
                <a:ea typeface="Aptos"/>
                <a:cs typeface="Aptos"/>
              </a:rPr>
              <a:t>ΔΗΜΟΣΙΑ ΕΡΕΥΝΗΤΙΚΗ ΕΚΔΟΣΗ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107A0C-A2A6-4FE4-80E0-7110359E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0485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357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52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ΠΡΟΓΡΑΜΜΑ DRX — ΑΝΕΞΑΡΤΗΤΗ ΔΡΑΧΜΗ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FC7A5-C5BF-4CC1-B75C-48F450520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572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00" b="0">
                <a:solidFill>
                  <a:srgbClr val="F0C873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F0C873"/>
                </a:solidFill>
                <a:latin typeface="Aptos"/>
                <a:ea typeface="Aptos"/>
                <a:cs typeface="Aptos"/>
              </a:rPr>
              <a:t>Ελληνική Πρωτοβουλία Νομισματικής Τεχνολογίας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79FA35-7128-4179-88C7-4B329D3C6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95625"/>
            <a:ext cx="64770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0">
                <a:solidFill>
                  <a:srgbClr val="D7E0E8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D7E0E8"/>
                </a:solidFill>
                <a:latin typeface="Aptos"/>
                <a:ea typeface="Aptos"/>
                <a:cs typeface="Aptos"/>
              </a:rPr>
              <a:t>Μελέτη σκοπιμότητας για μια σκληρή ψηφιακή και φυσική λογιστική μονάδα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353CFD-92A9-4D31-BC2F-A150AD03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76750"/>
            <a:ext cx="647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dig Δραχμή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794A69F-6A27-41A9-9C3B-FF69792B0E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219700"/>
            <a:ext cx="647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EBD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DCA"/>
                </a:solidFill>
                <a:latin typeface="Aptos"/>
                <a:ea typeface="Aptos"/>
                <a:cs typeface="Aptos"/>
              </a:rPr>
              <a:t>Vendetta Labs · Gio (Kaspartizan)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4C511F-B864-4CBB-83ED-E785B39C8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43550"/>
            <a:ext cx="647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2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050" b="0">
                <a:solidFill>
                  <a:srgbClr val="AEBDC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DCA"/>
                </a:solidFill>
                <a:latin typeface="Aptos"/>
                <a:ea typeface="Aptos"/>
                <a:cs typeface="Aptos"/>
              </a:rPr>
              <a:t>Δημόσια ερευνητική έκδοση · 1 Σεπτεμβρίου 2026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95e5e69788489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953500" y="1657350"/>
            <a:ext cx="2476500" cy="2476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8EAE10-E193-47A2-B6AB-1B7115793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48200"/>
            <a:ext cx="276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825" b="1">
                <a:solidFill>
                  <a:srgbClr val="F0C87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0C873"/>
                </a:solidFill>
                <a:latin typeface="Aptos"/>
                <a:ea typeface="Aptos"/>
                <a:cs typeface="Aptos"/>
              </a:rPr>
              <a:t>INDEPENDENT PUBLIC FEASIBILITY STUDY</a:t>
            </a:r>
          </a:p>
        </p:txBody>
      </p:sp>
    </p:spTree>
    <p:extLst>
      <p:ext uri="{BB962C8B-B14F-4D97-AF65-F5344CB8AC3E}">
        <p14:creationId xmlns:p14="http://schemas.microsoft.com/office/powerpoint/2010/main" val="17099626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9E541F4-15D4-4B1D-A360-BFD7F3930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7A87A7-A26A-4D01-B8EB-2B022AE96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ΕΝΤΟΛΗ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6F7F79-CBBC-448A-867F-B70E29B3E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Ζητείται έρευνα - όχι εισαγωγή νομίσματος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804F11A-37DA-42DF-92B3-2417B8AF1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75e26de21444b5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DB11527-A322-498D-88B9-576EC5697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CC1F4F-1768-4017-91CC-96CE32EFF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93C48D0-1C32-4376-AE81-61616B4DB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47850"/>
            <a:ext cx="10972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75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Φάση 0 · 12-18 μήνες · το πολύ 1,6 εκατ. ευρώ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282F953-2E01-4877-A1E7-F49F9202B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400675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3B4FA11-EB22-4137-81B5-ACC4335E8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CD9668-21D2-4D70-9021-3E708B27B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2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Νομικά πορίσματα και μακροοικονομική προσομοίωση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99F997-632C-4528-AF86-BC191BE0F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85950"/>
            <a:ext cx="5400675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24BA5D-75AE-4F0A-9B19-BB87F39B7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12443B-D0E0-46C8-B422-7E08FE07A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383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πρωτότυπο testnet Kaspa Toccata χωρίς αξία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6EA88D1-52E8-419A-A3BA-84F71299B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400675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6E585C-2A66-4235-9C87-4575D4FC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E19095E-A59C-427B-9DAD-912DE4C25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363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εργαστηριακές δοκιμές CashLot και εκτός σύνδεσης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BCC597E-01A7-4637-87FB-A65CEF19B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5400675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CFE145-5E38-43D5-968D-108FFBEEC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689991-5A5B-43D9-BEC1-73AB42388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719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αυτόματο sunset ελλείψει νέας απόφασης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CE4F80A-ABFA-4CF6-BA8D-A8B9E19CC7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Δεν ζητείται: αξία σε mainnet, τραπεζογραμμάτια με ονομαστική αξία, φορολογική αποδοχή, νόμιμο μέσο πληρωμής ή απόφαση Grexit.</a:t>
            </a:r>
          </a:p>
        </p:txBody>
      </p:sp>
    </p:spTree>
    <p:extLst>
      <p:ext uri="{BB962C8B-B14F-4D97-AF65-F5344CB8AC3E}">
        <p14:creationId xmlns:p14="http://schemas.microsoft.com/office/powerpoint/2010/main" val="39619115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DD1C48-2CCD-4783-A44F-F16035433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18AD4FC-21C3-40E6-9373-00855718B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ΝΟΜΙΣΜΑΤΙΚΟ ΣΥΝΤΑΓΜΑ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74BCD2-4FC1-4E46-90AA-C3F9CEB3A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Μία μονάδα - τέσσερις μορφές φορέα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85754F-C20C-4CE6-B259-2CFDD8780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1d5c4573db41c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61193A-10F0-4528-B455-BC12A838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6E3134-5469-4AD8-AB1E-DF407E43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F033419-F465-41A1-8983-5B2DC1D29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Η ΔΡΑΧ δεν είναι CBDC ούτε stablecoin.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0A30822-8F24-473F-96DA-D4F2C22F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2614613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611D8D-E95D-4FA6-A509-512B4B7E1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666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908C6D-6B08-43F8-8C8E-7F33D6F8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76500"/>
            <a:ext cx="22526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5542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ψηφιακή αξία στον κομιστή (bearer value) σε αυτοεπιμέλεια (self-custody)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87F651-EA89-46A2-98FA-E2624922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324100"/>
            <a:ext cx="2614613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CCECA8-F79E-4950-8333-4012B9E99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324100"/>
            <a:ext cx="666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BA0818D-6B35-4885-A38B-B4234928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476500"/>
            <a:ext cx="22526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56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προχρηματοδοτημένη αξία εκτός σύνδεσης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07A3BC4-1033-41A6-A3D6-D1E484295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24100"/>
            <a:ext cx="2614613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F60BF4A-EF3F-48F8-AFBC-C3D7E7667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24100"/>
            <a:ext cx="666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C5BDBF-0FD0-4752-9496-ADCA4D7B4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76500"/>
            <a:ext cx="22526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τραπεζογραμμάτια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FFFAFC-1421-4765-B1E5-91CECC49E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324100"/>
            <a:ext cx="2614613" cy="32385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31C1E3-4741-40A8-B8A3-D493F3CA1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324100"/>
            <a:ext cx="66675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5A9B37-83E6-44A1-9CEE-663EF34F1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476500"/>
            <a:ext cx="22526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κέρματα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629626-AE38-4C3E-831F-AD5D07F01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9728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Όλες οι μορφές μοιράζονται την ίδια νομισματική μάζα. Φυσικό χρήμα δημιουργείται μόνο έναντι ισότιμης ψηφιακής δέσμευσης.</a:t>
            </a:r>
          </a:p>
        </p:txBody>
      </p:sp>
    </p:spTree>
    <p:extLst>
      <p:ext uri="{BB962C8B-B14F-4D97-AF65-F5344CB8AC3E}">
        <p14:creationId xmlns:p14="http://schemas.microsoft.com/office/powerpoint/2010/main" val="166649987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37C1A7-F8A0-4C71-8D65-62CB930F5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3EACFD-3F8B-4B6E-BA68-68CC43C48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ΠΡΩΤΟΚΟΛΛΟ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6BF8426-0A24-4651-98FE-77B9C8D33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Το σύνταγμα χωρά σε μία εξίσωση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1CF5E-994C-439C-AFFB-709F9164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e6cb32e183439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A68C5D-FFC7-4B54-89E7-9D1420C6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0B850-170A-435E-8B1C-8F573960C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B6EC50-57F6-4B3B-BF0B-CF574984A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300" b="1">
                <a:solidFill>
                  <a:srgbClr val="D9A84E"/>
                </a:solidFill>
                <a:latin typeface="Georgia"/>
                <a:ea typeface="Georgia"/>
                <a:cs typeface="Georgia"/>
              </a:defRPr>
            </a:pPr>
            <a:r>
              <a:rPr sz="3300" b="1">
                <a:solidFill>
                  <a:srgbClr val="D9A84E"/>
                </a:solidFill>
                <a:latin typeface="Georgia"/>
                <a:ea typeface="Georgia"/>
                <a:cs typeface="Georgia"/>
              </a:rPr>
              <a:t>S = D + P + O + E ≤ Mmax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12ADF6D-D823-4065-952D-AC7B1783B9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2614613" cy="27813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8424C9-AC85-49C8-BB60-1EC65110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2415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56BCA7-F90D-4805-A608-75418EB24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52750"/>
            <a:ext cx="2252663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D 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ψηφιακά ελεύθερα κυκλοφορούντα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6CB37F4-9DAB-4232-A1F1-69351E977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724150"/>
            <a:ext cx="2614613" cy="27813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249E8E-26C5-4E6C-BD35-C9C251279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72415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036F4D-4794-4EF5-A4F9-3A851C145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952750"/>
            <a:ext cx="2252663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P 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δεσμευμένα για χαρτί και μέταλλο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EB6DA03-FF82-4C89-8474-7C70F362A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24150"/>
            <a:ext cx="2614613" cy="27813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E09B6E-6834-45DA-8262-C3140A68E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72415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6C228E-D513-4768-9927-56E31D61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52750"/>
            <a:ext cx="2252663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O 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δεσμευμένα για πληρωμή εκτός σύνδεσης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5F191AA-9A21-4A59-9B80-6E10FFAF0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724150"/>
            <a:ext cx="2614613" cy="27813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A90740-BC8B-44F1-8894-04264AA2B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724150"/>
            <a:ext cx="66675" cy="2781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31F7FA-CDFC-40C4-9764-D8276169C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952750"/>
            <a:ext cx="2252663" cy="2133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E —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αυστηρά καθορισμένες ειδικές καταστάσεις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4BAC1D-7D48-4CB0-A892-84CB49689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97280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Οι αλλαγές μορφής δεν μεταβάλλουν το S. Καμία έκτακτη έκδοση (mint).</a:t>
            </a:r>
          </a:p>
        </p:txBody>
      </p:sp>
    </p:spTree>
    <p:extLst>
      <p:ext uri="{BB962C8B-B14F-4D97-AF65-F5344CB8AC3E}">
        <p14:creationId xmlns:p14="http://schemas.microsoft.com/office/powerpoint/2010/main" val="60215697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3E62D8D-7EBB-4B8C-8D39-C501A5E96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03415B9-1E4D-45DF-B1A5-1261D157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ΠΡΩΤΟΚΟΛΛΟ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B98F2F-B8E1-4A81-948B-1CBE28A9C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Το Kaspa Toccata ταιριάζει στο μοντέλο bearer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A27C7A-3753-4F07-8C99-0E331A6D5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1e3133fbdb430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E80727-B9EF-43BB-8C72-0FDE9603DD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9C7C53-3832-48E8-BEA0-DE23312A2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2E25CBC-D0CA-49FB-80FA-641EA7BDE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2857500" cy="33337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D544A9A-F2D4-4995-8549-439B59F03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324100"/>
            <a:ext cx="24003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3450" b="1">
                <a:solidFill>
                  <a:srgbClr val="F0C873"/>
                </a:solidFill>
                <a:latin typeface="Georgia"/>
                <a:ea typeface="Georgia"/>
                <a:cs typeface="Georgia"/>
              </a:defRPr>
            </a:pPr>
            <a:r>
              <a:rPr sz="3450" b="1">
                <a:solidFill>
                  <a:srgbClr val="F0C873"/>
                </a:solidFill>
                <a:latin typeface="Georgia"/>
                <a:ea typeface="Georgia"/>
                <a:cs typeface="Georgia"/>
              </a:rPr>
              <a:t>UTXO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34A615D-29B6-4A17-9535-5BD8D2D5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143250"/>
            <a:ext cx="24003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LOCAL RULES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GLOBAL SETTLEMENT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54CFE4-0D98-4559-96B1-69C5EB69B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419600"/>
            <a:ext cx="2400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EBDC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EBDCA"/>
                </a:solidFill>
                <a:latin typeface="Aptos"/>
                <a:ea typeface="Aptos"/>
                <a:cs typeface="Aptos"/>
              </a:rPr>
              <a:t>KASPA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AEBDCA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AEBDCA"/>
                </a:solidFill>
                <a:latin typeface="Aptos"/>
                <a:ea typeface="Aptos"/>
                <a:cs typeface="Aptos"/>
              </a:rPr>
              <a:t>TOCCATA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8CE7C7-F384-4393-9C3D-6D02BF1D7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38481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4C92F5-12D7-4F8F-A771-2931F5C1F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1952625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3507D6-5A66-48A4-BD74-4141DAA83A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21050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56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Εγγενή covenants σε επίπεδο UTXO αντί για κεντρικό μητρώο λογαριασμών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6E356A8-46BC-4AD0-8AF5-ED15DA731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52625"/>
            <a:ext cx="38481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654364-6A4B-41BD-957A-582DD4396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1952625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8F197-8AD4-40BB-B63B-4FB227C92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1050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654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κάθε spend επικυρώνει επιτρεπόμενους διαδόχους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7F219D-4FF8-4F9A-8951-321B51C5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38481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B28040-E3B0-41D9-BD55-C100ADDED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705225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8ADD4-92FC-4448-859C-4CA15784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8576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392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τοπικά αναλλοίωτα split/merge/transfer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150A6-5CD8-4303-A4A3-28BB7B743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05225"/>
            <a:ext cx="3848100" cy="1581150"/>
          </a:xfrm>
          <a:prstGeom xmlns:a="http://schemas.openxmlformats.org/drawingml/2006/main" prst="roundRect">
            <a:avLst>
              <a:gd name="adj" fmla="val 108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643B078-79E1-4BEB-95C5-F641C597C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3705225"/>
            <a:ext cx="66675" cy="1581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1E1B901-689A-44A0-9431-AD9D5E646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57625"/>
            <a:ext cx="3486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56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παράλληλες πληρωμές χωρίς καθολικό αποθεματικό υπολοίπων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3FCC77-C609-4C00-977F-85270A12D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054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Όμως: Τέλη KAS, compiler, wallets και indexers παραμένουν εξωτερικές εξαρτήσεις. Δοκιμή μετανάστευσης είναι υποχρεωτική.</a:t>
            </a:r>
          </a:p>
        </p:txBody>
      </p:sp>
    </p:spTree>
    <p:extLst>
      <p:ext uri="{BB962C8B-B14F-4D97-AF65-F5344CB8AC3E}">
        <p14:creationId xmlns:p14="http://schemas.microsoft.com/office/powerpoint/2010/main" val="22501007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24A557-6B1F-443C-8816-B0E07DC0D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75B0FE8-BA03-456D-8561-5BCEBC6ED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ΠΡΩΤΟΚΟΛΛΟ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93EF38-B450-46B5-8208-BC8C6E0A2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Ο τεχνικός πυρήνας παραμένει μικρός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15DE6B-BA52-4375-B37D-40819CF53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58c3a9f758c4ea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F89F631-8542-4F3F-B51D-0FD153B5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1A90A1-8B22-4544-808B-E0270C0F0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E6E8B9F-E348-4188-A800-94D148BBE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13D76D-2ADC-4134-BACB-F6E0B084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2E064C8-1BC9-4F70-A3C1-CC86FFDB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Constitution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F14227E-D325-412F-A5B1-77DC2D205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M0, Mmax, πρόγραμμα έκδοσης, sunset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8569B2-A792-40BD-8682-278C39323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EB5C8-2AB8-4AAC-BA2E-59C69334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00EF394-9FF0-4911-9581-BAA550B81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Bearer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383361-A2C1-4204-B7BD-54A9C2DF9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669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split, merge, transfer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4DF78F-BE1B-4D80-A563-C2036A37D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B14B63F-3B3C-431D-BC95-DFD0910B1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6F43012-63EC-4CF2-B163-E5C4ED28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CashLot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92B5B7-91D4-4E2D-B4B4-852903A3C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669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φυσική έκδοση και καταστροφή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8228517-D15E-4C16-ACD9-7D5896A1C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432BCE2-A0E2-4908-BF42-E9076FE08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24E4449-76E9-4599-9894-03409DB34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OfflineLock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AFA7F09-605B-4949-B4EA-349CCEDD3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προχρηματοδοτημένη αξία εκτός σύνδεσης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0897C-AE45-4048-A4C5-427F94E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402EA7-53D5-491F-8DD2-7C10E855B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BDE2DAB-1F64-412B-B76B-F67EBDC6E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Recovery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C8184AE-F5BE-4588-BA68-019990F62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005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αυστηρά περιορισμένες διαφορές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1B2E9A4-168F-41D1-B75F-02D8EE9D7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9728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Κανένα oracle, peg EUR, blacklist ή καθολικός διακόπτης παύσης.</a:t>
            </a:r>
          </a:p>
        </p:txBody>
      </p:sp>
    </p:spTree>
    <p:extLst>
      <p:ext uri="{BB962C8B-B14F-4D97-AF65-F5344CB8AC3E}">
        <p14:creationId xmlns:p14="http://schemas.microsoft.com/office/powerpoint/2010/main" val="24622470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809B6BB-1489-4155-ADA5-728A47B64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E70943-E4F4-4288-A742-E6DEF1EC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ΜΕΤΡΗΤΑ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86C5D0-949E-4AA7-8395-50B1BE63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Τραπεζογραμμάτιο και token είναι η ίδια υποχρέωση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F832E3B-CA7F-42F5-912A-0BF28C37B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fe89a9457ae4fd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2D04A1-790B-47DF-8C38-EAE6BE8459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2038152-1F49-4592-9B0C-0C12068D6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3E50DB-23D1-4FD4-B81C-2DE6234CA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2118360" cy="2762250"/>
          </a:xfrm>
          <a:prstGeom xmlns:a="http://schemas.openxmlformats.org/drawingml/2006/main" prst="roundRect">
            <a:avLst>
              <a:gd name="adj" fmla="val 8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086C43-EC4A-4B25-9FC6-E887E719D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ADEDD1-F10E-41D6-9773-C2017EA6B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47900"/>
            <a:ext cx="17564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5277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01  Τράπεζα ή Cash Utility δεσμεύει x ΔΡΑΧ στο CashLot.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13A5A98-CC0A-4179-95A1-F116DE340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0335" y="3143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4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D9A8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A84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6DBF13-08E7-45B2-9F35-304669D0E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095500"/>
            <a:ext cx="2118360" cy="2762250"/>
          </a:xfrm>
          <a:prstGeom xmlns:a="http://schemas.openxmlformats.org/drawingml/2006/main" prst="roundRect">
            <a:avLst>
              <a:gd name="adj" fmla="val 8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2A86EA-0FA4-444D-BEE4-5CC7E12CE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3210" y="209550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C5A9CA-2352-43F9-B08A-B9C9223B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32760" y="2247900"/>
            <a:ext cx="17564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4225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02  Τυπογραφείο/νομισματοκοπείο παράγει μόνο έναντι έγκυρου warrant.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A96411F-AB76-43CC-A007-4B347A30F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93945" y="3143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4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D9A8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A84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5555B6F-74F9-4417-A15E-41BA55D3B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2095500"/>
            <a:ext cx="2118360" cy="2762250"/>
          </a:xfrm>
          <a:prstGeom xmlns:a="http://schemas.openxmlformats.org/drawingml/2006/main" prst="roundRect">
            <a:avLst>
              <a:gd name="adj" fmla="val 8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5D31956-5C97-41E7-86B6-FDB34B7BFF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36820" y="209550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6274E37-A79C-496A-8CEB-E75CA3AFF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370" y="2247900"/>
            <a:ext cx="17564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56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03  Ελεγκτής πιστοποιεί την παρτίδα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4CDC9BF-F28C-4891-AF11-E246FC120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6370" y="2676525"/>
            <a:ext cx="1756410" cy="2057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η έκδοση μεταβαίνει σε «Issued».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F147C5-0B0C-4875-B165-636CC31E9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7555" y="3143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4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D9A8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A84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F385708-BE27-42C2-8947-393E041DE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2095500"/>
            <a:ext cx="2118360" cy="2762250"/>
          </a:xfrm>
          <a:prstGeom xmlns:a="http://schemas.openxmlformats.org/drawingml/2006/main" prst="roundRect">
            <a:avLst>
              <a:gd name="adj" fmla="val 8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FA8798-0792-472E-A932-ABC66DBD4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0430" y="209550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54430A8-7EE4-477E-87D5-DE99C5F31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9980" y="2247900"/>
            <a:ext cx="17564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5084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04  Η επιστροφή ελέγχεται, ακυρώνεται και καταστρέφεται.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B07CF28-AC99-4AB2-98F2-25E8F686A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1165" y="3143250"/>
            <a:ext cx="2667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4315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2100" b="1">
                <a:solidFill>
                  <a:srgbClr val="D9A84E"/>
                </a:solidFill>
                <a:latin typeface="Aptos"/>
                <a:ea typeface="Aptos"/>
                <a:cs typeface="Aptos"/>
              </a:defRPr>
            </a:pPr>
            <a:r>
              <a:rPr sz="2100" b="1">
                <a:solidFill>
                  <a:srgbClr val="D9A84E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6B14C66-7978-4804-A1CD-DE4F47A37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95500"/>
            <a:ext cx="2118360" cy="2762250"/>
          </a:xfrm>
          <a:prstGeom xmlns:a="http://schemas.openxmlformats.org/drawingml/2006/main" prst="roundRect">
            <a:avLst>
              <a:gd name="adj" fmla="val 80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0F1CAB-B72A-4053-B01D-07B25F158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095500"/>
            <a:ext cx="66675" cy="2762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0324E8D-CC10-4714-B2F7-B3C9C66AE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3590" y="2247900"/>
            <a:ext cx="175641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4780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05  Μόνο τότε απελευθερώνονται ψηφιακά ακριβώς x ΔΡΑΧ.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862E46-78F4-47EC-AC16-EAAC26671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19700"/>
            <a:ext cx="10972800" cy="781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Σε περίπτωση αμφιβολίας η ψηφιακή αξία παραμένει δεσμευμένη: η ρευστότητα μπορεί να μπλοκαριστεί, η νομισματική μάζα δεν μπορεί να αυξηθεί.</a:t>
            </a:r>
          </a:p>
        </p:txBody>
      </p:sp>
    </p:spTree>
    <p:extLst>
      <p:ext uri="{BB962C8B-B14F-4D97-AF65-F5344CB8AC3E}">
        <p14:creationId xmlns:p14="http://schemas.microsoft.com/office/powerpoint/2010/main" val="48895545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02704F5-8645-49C5-8DAE-9E46929A0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B6BBB-862A-4FC8-B889-D6347436E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ΜΕΤΡΗΤΑ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222AE26-A78B-4FD6-9DB6-520BCDA0E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Το offline είναι περιορισμένο - όχι μαγικό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C14853-F577-4818-AF2F-55E6D9A4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99e7e7142e489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D01B8B-D3B3-4EB1-8222-6C48BAD10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36962FA-E7BD-4695-8E32-190EB2646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F8A4D-36D3-4E0E-ABA6-772D6B509A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614613" cy="26670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3361F3B-0D8F-43AB-AD77-A4FF7FD7A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9CB7250-A8E1-4D08-9C62-38BB4624B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90750"/>
            <a:ext cx="22526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6669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το πολύ 150 ΔΡΑΧ ανά συσκευή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DEF9814-DB49-44FB-9E75-A147A1096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38350"/>
            <a:ext cx="2614613" cy="26670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61E5F3D-41DD-4B16-B4FD-197760008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663" y="20383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BF55FB-B4F0-4CD5-932A-1341B21D6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5213" y="2190750"/>
            <a:ext cx="22526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675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το πολύ 50 ΔΡΑΧ ανά πληρωμή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807CFF-912C-4B10-96BB-BC5F224DE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38350"/>
            <a:ext cx="2614613" cy="26670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33A54D-B0AE-4BA6-9197-3BDC72958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0383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564261-8407-47C7-BB5E-4BBAE3CB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190750"/>
            <a:ext cx="22526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60748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το πολύ τρία hops εκτός σύνδεσης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6412A4-D4BF-4941-95F3-9138C580B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038350"/>
            <a:ext cx="2614613" cy="2667000"/>
          </a:xfrm>
          <a:prstGeom xmlns:a="http://schemas.openxmlformats.org/drawingml/2006/main" prst="roundRect">
            <a:avLst>
              <a:gd name="adj" fmla="val 655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6AB879-B8BE-47B8-A0B3-459A01F92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7788" y="2038350"/>
            <a:ext cx="66675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614A847-CE37-47AD-B60A-0971A895D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7338" y="2190750"/>
            <a:ext cx="2252663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56117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συγχρονισμός το αργότερο εντός 72 ωρών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7C4889-D27F-421F-8590-3BA88687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38700"/>
            <a:ext cx="109728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ο έμπορος θεωρεί την είσπραξη εκτός σύνδεσης επισφαλή έως τον διακανονισμό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1C46FC-E4D2-4516-B360-244FA50A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67350"/>
            <a:ext cx="109728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Τελικότητα εκτός σύνδεσης χωρίς εμπιστοσύνη και χωρίς όρια ρητώς δεν υπόσχεται.</a:t>
            </a:r>
          </a:p>
        </p:txBody>
      </p:sp>
    </p:spTree>
    <p:extLst>
      <p:ext uri="{BB962C8B-B14F-4D97-AF65-F5344CB8AC3E}">
        <p14:creationId xmlns:p14="http://schemas.microsoft.com/office/powerpoint/2010/main" val="190705350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1A8B08A-992F-48A0-9AA2-99967EA05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951EA5-917A-468E-A1DF-9D0C2157C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OFFLINE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42291AA-FC22-4DDA-89D8-443BA38475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Το κράτος ξεκινά - και χάνει τα κλειδιά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62F421-9D3E-4B6C-A82F-F4ECFE20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c8a788321a43e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0A460F6-8225-4798-8D18-5920B3B85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BD5CD19-83C6-47A9-A265-135249B55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5E0411-18A8-43FF-A697-EA4184DED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52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5125C37-F128-495E-B9E9-C2146F2C06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19526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8D97896-D9A5-4715-B107-406B8F2B3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26289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195468-13A2-4E24-8279-3D2958838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479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010FCD-6D92-4072-9BBF-4A0D32920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00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Ημέρα 0-90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E7C489-CCEA-4B3A-80AC-430D42F9E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228975"/>
            <a:ext cx="22669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testnet/διορθώσεις σφαλμάτων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840C25-D4B4-4FD7-9919-152C89F9A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52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6316660-8F53-4B7A-AA25-BBC09155F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19526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25FBDC-5E7C-4389-B2C5-9651D5089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26289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D104D0-1124-431E-86E2-DE0470D17F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6479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826227-B33A-4AC3-B93B-FEA9E29D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00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Ημέρα 91-365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3211C4-5511-43AD-84BB-4F26B331C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228975"/>
            <a:ext cx="22669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μόνο ασφάλεια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E474C4-4E59-460C-B24B-4E66D9396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52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23ED785-C211-4F6A-83AE-6526D34C8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9950" y="19526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512082-E5CE-4DB0-9533-862B07B4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26289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694A58A-2699-4358-8421-A3C7382BFB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479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8DC9D1-95BF-4E9B-9511-A97D793355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00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Μήνας 13-24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C47D90-69D5-410A-B3EC-D2310104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228975"/>
            <a:ext cx="22669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παράδοση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1AD4479-DFB1-4A0D-A277-A99C3A669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C43A1BF-DF25-4A6A-94DC-79B0C547A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1952625"/>
            <a:ext cx="533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0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8EEB8CF-3959-4533-A9D1-0F3A22B8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2628900" cy="2190750"/>
          </a:xfrm>
          <a:prstGeom xmlns:a="http://schemas.openxmlformats.org/drawingml/2006/main" prst="roundRect">
            <a:avLst>
              <a:gd name="adj" fmla="val 78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2F80842-A49E-4D3D-ACB7-349C3246F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647950"/>
            <a:ext cx="66675" cy="2190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FE1DCB0-D361-4267-8674-48B3F0688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800350"/>
            <a:ext cx="2266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Sunset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B1806D8-3DBE-4DE1-9753-CFB8175ED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3228975"/>
            <a:ext cx="22669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Key Burn και δημόσια απόδειξη covenant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B1BCCC1-D0D4-470A-BC5B-F7F84EA8F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109728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Τα Mmax, αδυναμία δέσμευσης και κάλυψη μετρητών δεν είναι πλέον ρυθμιζόμενα μετά από αυτό.</a:t>
            </a:r>
          </a:p>
        </p:txBody>
      </p:sp>
    </p:spTree>
    <p:extLst>
      <p:ext uri="{BB962C8B-B14F-4D97-AF65-F5344CB8AC3E}">
        <p14:creationId xmlns:p14="http://schemas.microsoft.com/office/powerpoint/2010/main" val="203604049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BB1077F-B824-4564-BF8C-469CD261B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98EB440-6180-4C7A-B2D1-93EA53B3B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ΤΡΑΠΕΖΕΣ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0CAF79-4BBB-4E42-B0A6-02799827A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8657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7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270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Οι τράπεζες φυλάσσουν πληρωμές - η πίστωση φέρει κίνδυνο διάρκειας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412FA1-64C9-4947-BE72-25857C03B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6ca0df667846c4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5F42CE-2904-4A35-9839-339F9BFCB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1F2804-0D15-465C-9649-6ECF38ECC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FAD33E-1ECE-44C2-B9B0-C40D8DCCA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4102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B74AC2-D990-403F-8C8B-1438F04C9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2510E0-0BF4-4874-B525-C4CAEA91C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Λογαριασμοί πληρωμών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7A8658-520C-4C24-8A0B-5EF37F944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5048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100 % αποθεματικό σε ΔΡΑΧ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ειδικό ταμείο απρόσβλητο σε πτώχευση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δημόσια βεβαίωση αποθεματικών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C40EFA-578F-441F-90A5-D3488CD10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4102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928EDA-CAA6-4506-965A-315C23BC4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F6A0A2-9410-457D-928D-6E58E5287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Πίστωση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671B05-9E5A-4B02-BFE9-43E373FB5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81275"/>
            <a:ext cx="5048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από προθεσμιακές καταθέσεις, ομόλογα, ίδια κεφάλαια και αμοιβαία κεφάλαια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κανένα δικαίωμα δημιουργίας χρήματος της τράπεζας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τις ζημίες φέρει το κεφάλαιο κινδύνου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AA923E-5DD0-4119-94AC-77FFD6438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Η κρίσιμη ρευστότητα πρέπει να είναι προχρηματοδοτημένη.</a:t>
            </a:r>
          </a:p>
        </p:txBody>
      </p:sp>
    </p:spTree>
    <p:extLst>
      <p:ext uri="{BB962C8B-B14F-4D97-AF65-F5344CB8AC3E}">
        <p14:creationId xmlns:p14="http://schemas.microsoft.com/office/powerpoint/2010/main" val="103019658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5BD4A-16E4-4EC9-AC5C-54F0F5885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B922E0-AF31-470B-B1FF-52D8167D2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ΤΡΑΠΕΖΕΣ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2F5B41-1EDA-428D-A86F-2563E690E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Η παγκόσμια οικονομική σημασία πρέπει να κερδηθεί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D58E797-C326-4888-B26F-E459DE85E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342f864ccc482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BB20DB-7083-4FE3-ACE5-5ABC4676A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718A8BC-A8A7-48ED-93A2-DEAA1DC6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8B95D5-6CF0-4E61-87C4-B50F4D321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5400675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C10A09-B48D-4D4A-8A9A-974CE779F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592E5D0-24E2-4231-A4EC-4167063C9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Ναυτιλία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688BB1-4BA9-408F-9058-04B207DC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50387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Η Ελλάδα κατείχε αρχές 2025 το 16,4 % της παγκόσμιας χωρητικότητας στόλου.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F9611-D148-46FE-B926-EF9B12033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85950"/>
            <a:ext cx="5400675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0FE900-F6C4-4502-8BB7-DFC65AAE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6BB582-CFAF-4EBC-A2D6-060BBC0DC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0383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Τουρισμός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3FA3A-9DF2-45C4-AB97-FD1EB9DFB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66975"/>
            <a:ext cx="50387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Ταξιδιωτικά έσοδα 2025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EE958E7-3A44-4F4B-84C6-ED7A7FE2A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5400675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EB78819-D064-4B4F-9195-7C70F56CA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3415CED-565E-4174-8214-5DE08E0CD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Νησιά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8480C3-8678-4DE6-87AA-073B4D273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50387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Νάξος, Κάλυμνος και Σύρος προσφέρουν διαφορετικά προφίλ πιλότων.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AD447D4-CCE6-4DFA-A367-919C3EA0E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5400675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C99F1A-132A-455A-9635-ED6DFCFDB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195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9C6A424-912D-43E6-A254-36A662643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719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Διασπορά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85E768-E18D-4266-A28C-7E27DFD2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600575"/>
            <a:ext cx="5038725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ελεύθερες, ρυθμιζόμενες on-/off-ramps αντί για επίσημο γκισέ EUR.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EBE8640-8B3F-479E-8807-48FF747E5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86450"/>
            <a:ext cx="109728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125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BTC, ETH και χρυσός μπορούν να βρίσκονται σε ξεχωριστό ταμείο ρευστότητας - ποτέ με δικαίωμα mint ή peg.</a:t>
            </a:r>
          </a:p>
        </p:txBody>
      </p:sp>
    </p:spTree>
    <p:extLst>
      <p:ext uri="{BB962C8B-B14F-4D97-AF65-F5344CB8AC3E}">
        <p14:creationId xmlns:p14="http://schemas.microsoft.com/office/powerpoint/2010/main" val="922306789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C4B5640-A77B-4416-B4FB-9914EA5EF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9770BFA-CA44-4D04-9218-7268A9BED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ΠΑΓΚΟΣΜΙΑ ΟΙΚΟΝΟΜΙΑ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973C420-4DE1-4187-AAFA-8B3D506C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Δύο νομικές διαδρομές δεν πρέπει να συγχέονται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134107-CF0E-47EA-882E-87864F530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a57d14da5347f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D2D260E-18BE-406C-A757-05105D88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DFA94B-C826-45AA-91F1-008DFF79F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CF850F-0439-4AA7-AD95-208082408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54102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6AF0C5-4304-494C-96EF-CC612F3CC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002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4BB852F-D98C-48DE-96F4-6E8D875F8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152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Ευρωζώνη / Φάση 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6DACAA-C872-4D24-84F3-6E86D1F3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581275"/>
            <a:ext cx="5048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έρευνα και testnet χωρίς αξία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καμία υποχρέωση αποδοχής ή φορολογικής ονομασίας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πορίσματα MiCA/AML/GDPR και αυτόματο sunset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44CED2F-AEFF-4B00-8D91-516E2B72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5410200" cy="3333750"/>
          </a:xfrm>
          <a:prstGeom xmlns:a="http://schemas.openxmlformats.org/drawingml/2006/main" prst="roundRect">
            <a:avLst>
              <a:gd name="adj" fmla="val 5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65830B-1F4A-4607-9FC8-5167E6A72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000250"/>
            <a:ext cx="66675" cy="3333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4F7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F405D64-E350-4149-A035-BA1FFFDA1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152650"/>
            <a:ext cx="5048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Πλήρης νομισματική κυριαρχία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AFA1E3-0F02-4886-B396-DC8FE84E3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581275"/>
            <a:ext cx="5048250" cy="2628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νομισματικός νόμος, φορολογική ονομασία και νόμιμο μέσο πληρωμής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• μετατροπή τραπεζών, μετρητών και χρεών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AACFA37-EB93-44B8-B06A-DDA0A7A8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75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Ξεχωριστή θεμελιώδης απόφαση· καμία σύσταση εξόδου.</a:t>
            </a:r>
          </a:p>
        </p:txBody>
      </p:sp>
    </p:spTree>
    <p:extLst>
      <p:ext uri="{BB962C8B-B14F-4D97-AF65-F5344CB8AC3E}">
        <p14:creationId xmlns:p14="http://schemas.microsoft.com/office/powerpoint/2010/main" val="132441880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8C2BE39-A7E2-4DF5-BE0A-FAB5A3FBA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BED3B1-90AA-4C0B-B1E0-2EE6BD87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ΠΑΓΚΟΣΜΙΑ ΟΙΚΟΝΟΜΙΑ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B4EE57-3062-474C-9EC8-18DE0753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9744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Οι ισχυρότερες αντιρρήσεις παραμένουν στο μοντέλο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4F2E92-2FB4-478F-8748-D740D96D1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023698b9e044ce7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10A715-EC94-469F-92C3-8A9FB6E09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E64417-3445-4685-BB63-94253419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971BA3-05B2-4058-9F78-56435CFF0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14E1556-AF0D-471F-AB8C-48D7299D77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B81C10-B4B7-43DB-99F0-F40FD61A6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0383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Αποπληθωρισμός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CDDC83-F7DD-4078-B911-1A58A8FD1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η σταθερή ποσότητα μπορεί να αυξήσει το πραγματικό βάρος χρέους.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7F7139-2809-4621-98BE-7488308B0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BEC4654-7125-4E4B-BC33-C1A95D4F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9D921F-4F54-483A-AB69-613E0CA98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0383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Πιστωτική στενότητα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1BA7F-57F5-4173-B37D-72A0F0413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24669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το narrow banking ακριβαίνει τη χρηματοδότηση.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E51CEE0-839F-4857-8086-60C78C5D3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4E3981-6DC3-4592-89E4-058AB7DBE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18859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1D899AC-C0CA-4208-B2AF-502CCF8FD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0383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Εξάρτηση από Kaspa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EF080F3-E781-4D7D-89D6-F638C022F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4669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ένα ξένο δίκτυο δεν είναι πλήρης αυτάρκεια.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9ECC8C6-28B2-41C6-AD3D-96CB9C65C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911FCC-288D-4D8A-B262-25F9E1356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195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489A6AC-CD63-4F26-9A98-91191B6BA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719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Απάτη μετρητών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404DBDC-686F-4F01-8BD2-FFA952FD2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6005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ο φυσικός βραχίονας παραμένει θεσμικός.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9342CD3-F643-48E4-905D-D62DD24C7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569BFBD-2893-405E-BD82-5D6D14135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0195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0524716-857D-4E87-9150-55BE25D2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1719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Double spend εκτός σύνδεσης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FF5F7-035B-49D8-AA61-CB7DFC378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005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η ζημία περιορίζεται, δεν εξαλείφεται.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C907DC-77CF-4E6E-85A3-19BF4A6B5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3543300" cy="1962150"/>
          </a:xfrm>
          <a:prstGeom xmlns:a="http://schemas.openxmlformats.org/drawingml/2006/main" prst="roundRect">
            <a:avLst>
              <a:gd name="adj" fmla="val 87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271623-9416-4F74-93B3-AAA5DB3FE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4019550"/>
            <a:ext cx="66675" cy="1962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836EFF-44B7-4222-A6C2-0CC9B9782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71950"/>
            <a:ext cx="31813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Κρατική πίεση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AC8CFA-0889-4E13-A3C2-51FB58AB2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600575"/>
            <a:ext cx="3181350" cy="1257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η τεχνολογία αποτρέπει mint/freeze, όχι απαγορεύσεις ή αποκλεισμούς αγορών.</a:t>
            </a:r>
          </a:p>
        </p:txBody>
      </p:sp>
    </p:spTree>
    <p:extLst>
      <p:ext uri="{BB962C8B-B14F-4D97-AF65-F5344CB8AC3E}">
        <p14:creationId xmlns:p14="http://schemas.microsoft.com/office/powerpoint/2010/main" val="1113248998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1B1669-4260-484C-B629-0DA0C74940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C73DEB-45D4-4B00-95E8-E63EA938E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ΚΙΝΔΥΝΟΙ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31973C-BE68-408A-8D00-9044F92EF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Η Φάση 0 παραδίδει αποδείξεις αντί για αγοραία αξία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45A3424-C7A8-46AA-99AE-906763BE8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b556914fc7477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4437EF7-422B-42B5-9F34-30861F3A1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D67372A-E52A-46E2-814E-2DF3538DA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1A383D-9C31-45CF-B27F-8B7291F58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10972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FDFE10-356F-4296-8264-CD50EBEE3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335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0-3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36D7D77-1DC6-49B4-BEB1-32062FFF3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1933575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νομικά ζητήματα, αναλλοίωτα, περιβάλλον testnet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8E41F1-37B5-4DD7-B612-C4E4D0F9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10972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844644F-0493-46F6-8368-A08310AB2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812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4-6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8FA0A7-D4AC-4D9F-953D-CE2060B6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581275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PoC Constitution/Bearer και supply indexer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DACE861-617B-45D9-95B6-96A41A591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972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86B7B-F1DF-4029-83DC-BFFC07DE1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289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7-9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50D569-3CD1-4434-98F4-7A388A989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228975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CashLot, εργαστήριο offline, ενδιάμεση απόφαση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135384-820E-4640-A3C5-253C672C8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10972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847645-7A14-4E95-A0FE-13883B6E9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766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10-12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C577D10-BCE8-4072-B6C2-C80793EFF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3876675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προσομοίωση επίθεσης και δοκιμή μετανάστευσης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E7B95BD-A8CD-4965-AE69-AADDE84E2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10972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02F6895-0241-46AD-AD36-0E545C7FA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5243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13-15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DEDC3-4817-4BE9-8831-9A08B164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524375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ολοκληρωμένη επίδειξη χωρίς αξία και red team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D5C43C0-CF9B-4CF1-9BCF-7D46778D6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24450"/>
            <a:ext cx="10972800" cy="514350"/>
          </a:xfrm>
          <a:prstGeom xmlns:a="http://schemas.openxmlformats.org/drawingml/2006/main" prst="roundRect">
            <a:avLst>
              <a:gd name="adj" fmla="val 185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F67C390-49FC-4EE2-8220-C29852645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172075"/>
            <a:ext cx="171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16-18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7B16134-76B1-437F-A9C8-E0FA18732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172075"/>
            <a:ext cx="88011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0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τελικό πόρισμα: Go/No-Go/Research-Only</a:t>
            </a:r>
          </a:p>
        </p:txBody>
      </p:sp>
    </p:spTree>
    <p:extLst>
      <p:ext uri="{BB962C8B-B14F-4D97-AF65-F5344CB8AC3E}">
        <p14:creationId xmlns:p14="http://schemas.microsoft.com/office/powerpoint/2010/main" val="133578011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083196-1495-4EAF-9413-152338981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73E20B-B90B-4FB0-8D76-72BE0C479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ΚΙΝΔΥΝΟΙ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E9FE55-EAEF-4B40-84AA-896A23352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Ο προϋπολογισμός δεσμεύεται σε σκληρά κατώφλια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A6B545E-844A-459F-AA1A-550208326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a0e6613e9254ab6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EB381E-F3C6-483C-B802-9D7CAD3F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129AB7-5B29-486E-9F25-724BB80CE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7EA6E8-837A-4AB2-AF72-9620E4A23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752600"/>
            <a:ext cx="109728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65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Συνολικός διάδρομος 0,95-1,65 εκατ. ευρώ · έγκριση με ανώτατο όριο 1,6 εκατ. ευρώ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DF9D60-F801-44EE-B44F-F87A65C45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5400675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06DE55-E678-4AE5-85FC-2DAC3A97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4315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B4BA54-166A-436A-9A4D-A9D69402F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Δίκαιο και μακροοικονομία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1462358-A806-4173-A3B0-AF21A81F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924175"/>
            <a:ext cx="50387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260-420 χιλ. ευρώ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28E411-582F-40CA-9F09-C6FDE8445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43150"/>
            <a:ext cx="5400675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6D4D4-DC93-4B3D-AC0E-7AED7BF80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234315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763ABF-26EC-4FFD-9EC2-C4E2AC0FD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49555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Covenant, wallet και indexer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F7972A1-E9D6-4353-8431-2D298472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2924175"/>
            <a:ext cx="50387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340-600 χιλ. ευρώ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E09EC0-B03A-4822-AB66-37F1EC64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5400675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16F6BB8-7A58-48B8-93A0-DDAFCBE4C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8CE334-7B74-4733-BDFF-47272706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15290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Offline και διαδικασία μετρητών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650B1B1-9354-4D25-B82B-A2572547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81525"/>
            <a:ext cx="50387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170-310 χιλ. ευρώ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2C506A-F796-4A97-B027-380671DD3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00500"/>
            <a:ext cx="5400675" cy="1485900"/>
          </a:xfrm>
          <a:prstGeom xmlns:a="http://schemas.openxmlformats.org/drawingml/2006/main" prst="roundRect">
            <a:avLst>
              <a:gd name="adj" fmla="val 1153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9D5C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D936E5-5F07-4FD3-A02E-392BED7E8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725" y="4000500"/>
            <a:ext cx="66675" cy="1485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9D6EDF-EA4F-494F-A831-3BE862B2F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152900"/>
            <a:ext cx="5038725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16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Έλεγχοι, bug bounty και διαχείριση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ABF3F2-02D5-4E7A-978C-822B2DC1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91275" y="4581525"/>
            <a:ext cx="5038725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275" b="0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F6B7A"/>
                </a:solidFill>
                <a:latin typeface="Aptos"/>
                <a:ea typeface="Aptos"/>
                <a:cs typeface="Aptos"/>
              </a:rPr>
              <a:t>180-320 χιλ. ευρώ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8D21A54-A069-4440-8C50-5C1153220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76900"/>
            <a:ext cx="109728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7E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20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Διακοπή: ασαφής νομική βάση, μη αποδείξιμο αναλλοίωτο Mmax, άωρη αλυσίδα εργαλείων, μη βιώσιμος κίνδυνος offline/CashLot ή παρακάμψιμο sunset.</a:t>
            </a:r>
          </a:p>
        </p:txBody>
      </p:sp>
    </p:spTree>
    <p:extLst>
      <p:ext uri="{BB962C8B-B14F-4D97-AF65-F5344CB8AC3E}">
        <p14:creationId xmlns:p14="http://schemas.microsoft.com/office/powerpoint/2010/main" val="195308556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7F5E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C825C8E-9F89-4688-9DD4-94BFDEB4D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A7479FA-EE71-40D1-B2A3-234DAFF85E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1B4F7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B4F78"/>
                </a:solidFill>
                <a:latin typeface="Aptos"/>
                <a:ea typeface="Aptos"/>
                <a:cs typeface="Aptos"/>
              </a:rPr>
              <a:t>ΦΑΣΗ 0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AF3EE6-9920-4636-BF2A-C09693464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66750"/>
            <a:ext cx="10287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defRPr>
            </a:pPr>
            <a:r>
              <a:rPr sz="3150" b="1">
                <a:solidFill>
                  <a:srgbClr val="071426"/>
                </a:solidFill>
                <a:latin typeface="Aptos Display"/>
                <a:ea typeface="Aptos Display"/>
                <a:cs typeface="Aptos Display"/>
              </a:rPr>
              <a:t>Η ζητούμενη απόφαση είναι συνειδητά μικρή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32EF4-D25E-4875-9B67-5331A1F9A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24000"/>
            <a:ext cx="14668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5c6e40437fb44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258550" y="2857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56D597-C874-41A1-8582-3875EA134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324600"/>
            <a:ext cx="6286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3DD52A-7607-45D5-ADCB-20E92ADF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90021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900" b="1">
                <a:solidFill>
                  <a:srgbClr val="5F6B7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5F6B7A"/>
                </a:solidFill>
                <a:latin typeface="Aptos"/>
                <a:ea typeface="Aptos"/>
                <a:cs typeface="Aptos"/>
              </a:rPr>
              <a:t>DRX · ΔΡΑΧ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DFAE2C-0506-47EF-A55C-2ACDFA7F7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3E892F-F3DD-45DB-86BD-D2A63C65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39830-8F47-422A-9300-4FE7FE5B7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1876425"/>
            <a:ext cx="1034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1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033"/>
                </a:solidFill>
                <a:latin typeface="Aptos"/>
                <a:ea typeface="Aptos"/>
                <a:cs typeface="Aptos"/>
              </a:rPr>
              <a:t>Ερευνητικό πρόγραμμα Φάσης 0 για το πολύ 18 μήνες.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B21536-446B-40DB-A7DF-81F2EF31C5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220083-F950-4A57-B640-C5B5D4C40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4269A0-1C95-4ACE-A625-88955D09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2524125"/>
            <a:ext cx="1034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Ανώτατο όριο χρηματοδότησης 1,6 εκατ. ευρώ.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183CC79-EADF-4716-9372-579E240A5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535DBB-B998-45DD-A46D-5F2ACE1011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7D2625A-05BF-47D1-8A17-0F4E1775C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171825"/>
            <a:ext cx="1034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Μόνο testnet, προσομοίωση, νομικά πορίσματα και ανοικτό λογισμικό αναφοράς.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48C553-EA84-4A3F-89BE-C061816A5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74EBB1D-F8D0-469D-9ACF-950872ED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290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976B431-7A6D-405D-86AC-E8B7DBF31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1034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Ενδιάμεση απόφαση μετά από εννέα μήνες.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9885B8-E09B-43A4-84AD-82803CDE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A84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F5D615-4212-4E78-9D1A-EB69FD4F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76750"/>
            <a:ext cx="457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07142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71426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29E994-6C69-4789-8DCA-DB37F0CE8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467225"/>
            <a:ext cx="103441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350" b="0">
                <a:solidFill>
                  <a:srgbClr val="142033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033"/>
                </a:solidFill>
                <a:latin typeface="Aptos"/>
                <a:ea typeface="Aptos"/>
                <a:cs typeface="Aptos"/>
              </a:rPr>
              <a:t>Αυτόματη λήξη ελλείψει ειδικής απόφασης συνέχισης.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BE54A5C-C1E4-47F9-A587-A96E19117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109728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426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76200" tIns="57150" rIns="76200" bIns="571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Επιτυχία σημαίνει αξιόπιστη κρατική απόφαση - όχι τιμή token ή κεφαλαιοποίηση αγοράς.</a:t>
            </a:r>
          </a:p>
        </p:txBody>
      </p:sp>
    </p:spTree>
    <p:extLst>
      <p:ext uri="{BB962C8B-B14F-4D97-AF65-F5344CB8AC3E}">
        <p14:creationId xmlns:p14="http://schemas.microsoft.com/office/powerpoint/2010/main" val="46244224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2026-09-01T15:28:41.3710000Z</dcterms:created>
  <dcterms:modified xsi:type="dcterms:W3CDTF">2026-09-01T15:28:41.3710000Z</dcterms:modified>
</coreProperties>
</file>